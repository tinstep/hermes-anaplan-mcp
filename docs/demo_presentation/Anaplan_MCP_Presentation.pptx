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77272" y="457200"/>
            <a:ext cx="1463040" cy="146304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4433" y="749808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93B"/>
                </a:solidFill>
                <a:latin typeface="Calibri"/>
              </a:rPr>
              <a:t>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81B900"/>
                </a:solidFill>
                <a:latin typeface="Calibri"/>
              </a:rPr>
              <a:t>Anaplan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Connecting AI Assistants to Your Anaplan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0B8C8"/>
                </a:solidFill>
                <a:latin typeface="Calibri"/>
              </a:rPr>
              <a:t>Why we built it  |  What it does  |  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9AAA"/>
                </a:solidFill>
                <a:latin typeface="Calibri"/>
              </a:rPr>
              <a:t>Lara Srinath  |  Platform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545336"/>
            <a:ext cx="411480" cy="41148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453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93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6362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Why querying Anaplan needed a better way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112264"/>
            <a:ext cx="411480" cy="41148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1226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93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756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What is MCP?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3055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The protocol that bridges AI and enterprise tools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679192"/>
            <a:ext cx="411480" cy="41148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679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93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426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What We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974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68 tools covering the full Anaplan Integration API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3246120"/>
            <a:ext cx="411480" cy="41148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93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095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6440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Three-layer design: Auth  |  API  |  Tools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3813048"/>
            <a:ext cx="411480" cy="41148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813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93B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7764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Key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83133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Explore, bulk actions, transactional reads/writes</a:t>
            </a:r>
          </a:p>
        </p:txBody>
      </p:sp>
      <p:sp>
        <p:nvSpPr>
          <p:cNvPr id="27" name="Oval 26"/>
          <p:cNvSpPr/>
          <p:nvPr/>
        </p:nvSpPr>
        <p:spPr>
          <a:xfrm>
            <a:off x="411480" y="4379976"/>
            <a:ext cx="411480" cy="41148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3799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93B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Use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39826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Real scenarios your team can use today</a:t>
            </a:r>
          </a:p>
        </p:txBody>
      </p:sp>
      <p:sp>
        <p:nvSpPr>
          <p:cNvPr id="31" name="Oval 30"/>
          <p:cNvSpPr/>
          <p:nvPr/>
        </p:nvSpPr>
        <p:spPr>
          <a:xfrm>
            <a:off x="411480" y="4946904"/>
            <a:ext cx="411480" cy="41148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9469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93B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910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Benefits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96519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Speed, safety, and natural-language access</a:t>
            </a:r>
          </a:p>
        </p:txBody>
      </p:sp>
      <p:sp>
        <p:nvSpPr>
          <p:cNvPr id="35" name="Oval 34"/>
          <p:cNvSpPr/>
          <p:nvPr/>
        </p:nvSpPr>
        <p:spPr>
          <a:xfrm>
            <a:off x="411480" y="5513832"/>
            <a:ext cx="411480" cy="41148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5138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93B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477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What's Next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532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Roadmap: ALM, SCIM, CloudWorks, Audit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365760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3657600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93B"/>
                </a:solidFill>
                <a:latin typeface="Calibri"/>
              </a:rPr>
              <a:t>Manual and Slow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D"/>
                </a:solidFill>
                <a:latin typeface="Calibri"/>
              </a:rPr>
              <a:t>Accessing Anaplan data means navigating UI screens, exporting CSVs, or writing bespoke API scripts for every single query.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508760"/>
            <a:ext cx="365760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508760"/>
            <a:ext cx="3657600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93B"/>
                </a:solidFill>
                <a:latin typeface="Calibri"/>
              </a:rPr>
              <a:t>Not AI-Ready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3317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D"/>
                </a:solidFill>
                <a:latin typeface="Calibri"/>
              </a:rPr>
              <a:t>LLMs can reason over data but have no way to directly query or act on live Anaplan workspaces without a structured interface.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5592" y="1508760"/>
            <a:ext cx="365760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65592" y="1508760"/>
            <a:ext cx="3657600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293B"/>
                </a:solidFill>
                <a:latin typeface="Calibri"/>
              </a:rPr>
              <a:t>Repetitive Plumbing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3317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D"/>
                </a:solidFill>
                <a:latin typeface="Calibri"/>
              </a:rPr>
              <a:t>Every script duplicates the same auth, pagination, retry logic, and name-to-ID resolution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1B900"/>
                </a:solidFill>
                <a:latin typeface="Calibri"/>
              </a:rPr>
              <a:t>We needed a standard, AI-native interface to Anaplan.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is MCP?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1B900"/>
                </a:solidFill>
                <a:latin typeface="Calibri"/>
              </a:rPr>
              <a:t>Model Context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8E0"/>
                </a:solidFill>
                <a:latin typeface="Calibri"/>
              </a:rPr>
              <a:t>MCP is an open standard (by Anthropic) that gives AI assistants a structured way to call external tools and data sources -- similar to how REST standardised web APIs.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43200"/>
            <a:ext cx="3291840" cy="13716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93B"/>
                </a:solidFill>
                <a:latin typeface="Calibri"/>
              </a:rPr>
              <a:t>AI Assistant
(Claude / Copilot)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2004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1B900"/>
                </a:solidFill>
                <a:latin typeface="Calibri"/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291840" cy="1371600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8346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Anaplan MCP
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2004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1B900"/>
                </a:solidFill>
                <a:latin typeface="Calibri"/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743200"/>
            <a:ext cx="3291840" cy="1371600"/>
          </a:xfrm>
          <a:prstGeom prst="rect">
            <a:avLst/>
          </a:prstGeom>
          <a:solidFill>
            <a:srgbClr val="008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8346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Anaplan
Integration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C0A0"/>
                </a:solidFill>
                <a:latin typeface="Calibri"/>
              </a:rPr>
              <a:t>Natural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206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C0A0"/>
                </a:solidFill>
                <a:latin typeface="Calibri"/>
              </a:rPr>
              <a:t>JSON-RPC / stdio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206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C0A0"/>
                </a:solidFill>
                <a:latin typeface="Calibri"/>
              </a:rPr>
              <a:t>HTTPS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0"/>
                </a:solidFill>
                <a:latin typeface="Calibri"/>
              </a:rPr>
              <a:t>  Any MCP-compatible AI host (Claude, Cursor, Copilot) plugs in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578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0"/>
                </a:solidFill>
                <a:latin typeface="Calibri"/>
              </a:rPr>
              <a:t>  Tools are self-describing -- the AI knows what each tool does and when to call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692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0"/>
                </a:solidFill>
                <a:latin typeface="Calibri"/>
              </a:rPr>
              <a:t>  Secure: credentials never leave your machine; the server runs locally via stdio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474720" cy="201168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81B900"/>
                </a:solidFill>
                <a:latin typeface="Calibri"/>
              </a:rPr>
              <a:t>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06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MCP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17320"/>
            <a:ext cx="3474720" cy="201168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5087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81B900"/>
                </a:solidFill>
                <a:latin typeface="Calibr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06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API Domains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1417320"/>
            <a:ext cx="3931920" cy="201168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508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81B900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06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Integration API v2 Coverage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57600"/>
            <a:ext cx="73152" cy="59436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Exploration  (37 tools)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0507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Browse workspaces, models, modules, lists, line items, views, exports, imports, processes,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462272"/>
            <a:ext cx="73152" cy="59436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62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Bulk Actions  (26 tools)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097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Run imports/exports/processes, manage files, set calendar/versions, list item CRUD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266944"/>
            <a:ext cx="73152" cy="59436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669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Transactional  (5 tools)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1441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Read and write cells, add/update/delete list items with full dimension resolution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1B900"/>
                </a:solidFill>
                <a:latin typeface="Calibri"/>
              </a:rPr>
              <a:t>Three layers -- each with a single responsibility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91440" cy="128016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11155680" cy="1280160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Tools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30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B900"/>
                </a:solidFill>
                <a:latin typeface="Calibri"/>
              </a:rPr>
              <a:t>exploration.ts  |  bulk.ts  |  transactional.ts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9164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8E0"/>
                </a:solidFill>
                <a:latin typeface="Calibri"/>
              </a:rPr>
              <a:t>68 MCP tools with zod-validated params. Pagination, search, name resolution, markdown table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136391"/>
            <a:ext cx="91440" cy="1280160"/>
          </a:xfrm>
          <a:prstGeom prst="rect">
            <a:avLst/>
          </a:prstGeom>
          <a:solidFill>
            <a:srgbClr val="00B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136391"/>
            <a:ext cx="11155680" cy="1280160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278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6F"/>
                </a:solidFill>
                <a:latin typeface="Calibri"/>
              </a:rPr>
              <a:t>client.ts  +  16 domain wrappers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227831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8E0"/>
                </a:solidFill>
                <a:latin typeface="Calibri"/>
              </a:rPr>
              <a:t>Retry logic (3x, exponential backoff). Auto-pagination via getAll(). Typed responses. All domains: Workspaces to Users.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672583"/>
            <a:ext cx="91440" cy="1280160"/>
          </a:xfrm>
          <a:prstGeom prst="rect">
            <a:avLst/>
          </a:prstGeom>
          <a:solidFill>
            <a:srgbClr val="008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672583"/>
            <a:ext cx="11155680" cy="1280160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6402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Auth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0293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CCC"/>
                </a:solidFill>
                <a:latin typeface="Calibri"/>
              </a:rPr>
              <a:t>basic.ts  |  certificate.ts  |  oauth.ts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764023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8E0"/>
                </a:solidFill>
                <a:latin typeface="Calibri"/>
              </a:rPr>
              <a:t>Three providers, auto-selected by env vars. Token caching, auto-refresh 5 min before 35-min expiry.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2179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0A0"/>
                </a:solidFill>
                <a:latin typeface="Calibri"/>
              </a:rPr>
              <a:t>NameResolver sits across all layers -- accepts human names OR 32-char hex IDs, 5-minute in-memory cache.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5623560" cy="64008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Name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9659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Use plain names anywhere -- 'Q4 Forecast', 'Sales Model'. No raw 32-char IDs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623560" cy="64008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Full CRUD on 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9659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Add, update, delete list items. Bulk supported. Handles Anaplan's code-field quirks.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24912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724912"/>
            <a:ext cx="5623560" cy="64008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8620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Live Cell Read/Write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2278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Read any view's data. Write values with full dimension targeting. Auto-truncation at 50k chars.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724912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724912"/>
            <a:ext cx="5623560" cy="64008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8620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Run and Monitor 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2278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Trigger imports, exports, processes. Real-time polling every 2s. Results returned inline.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86783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86783"/>
            <a:ext cx="5623560" cy="64008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2394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Large Volume Reads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489703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Async read requests for high-volume data. Auto-polls, downloads CSV pages, cleans up after.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986783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986783"/>
            <a:ext cx="5623560" cy="64008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12394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Auth Flexibility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489703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Basic, Certificate, or OAuth (device + auth-code). One env-var change to switch provider.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248656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248656"/>
            <a:ext cx="5623560" cy="64008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53858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Smart Pagination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57515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All list tools: offset/limit/search params. Full auto-pagination behind the scenes.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248656"/>
            <a:ext cx="5623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5248656"/>
            <a:ext cx="5623560" cy="64008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53858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93B"/>
                </a:solidFill>
                <a:latin typeface="Calibri"/>
              </a:rPr>
              <a:t>Resilient HTTP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57515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D"/>
                </a:solidFill>
                <a:latin typeface="Calibri"/>
              </a:rPr>
              <a:t>Auto-retry on 429 (Retry-After) and 5xx errors. Exponential backoff. No silent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1B900"/>
                </a:solidFill>
                <a:latin typeface="Calibri"/>
              </a:rPr>
              <a:t>Real conversations your team can have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11338560" cy="749808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4533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1B900"/>
                </a:solidFill>
                <a:latin typeface="Calibri"/>
              </a:rPr>
              <a:t>"Show me all models in the EMEA workspace"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9280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8E0"/>
                </a:solidFill>
                <a:latin typeface="Calibri"/>
              </a:rPr>
              <a:t>-&gt; show_models lists every model with ID, status, and last-saved timestamp.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50008"/>
            <a:ext cx="11338560" cy="749808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8658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1B900"/>
                </a:solidFill>
                <a:latin typeface="Calibri"/>
              </a:rPr>
              <a:t>"Run the January actuals import and tell me if it succeeded"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4056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8E0"/>
                </a:solidFill>
                <a:latin typeface="Calibri"/>
              </a:rPr>
              <a:t>-&gt; run_import triggers the job, polls every 2s, returns success/failure with error details.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91256"/>
            <a:ext cx="11338560" cy="749808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2783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1B900"/>
                </a:solidFill>
                <a:latin typeface="Calibri"/>
              </a:rPr>
              <a:t>"What are the line items in the Headcount module?"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75304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8E0"/>
                </a:solidFill>
                <a:latin typeface="Calibri"/>
              </a:rPr>
              <a:t>-&gt; show_lineitems returns name, format, formula, and dimensions in a markdown 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32504"/>
            <a:ext cx="11338560" cy="749808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8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1B900"/>
                </a:solidFill>
                <a:latin typeface="Calibri"/>
              </a:rPr>
              <a:t>"Update the budget for Cost Centre 1042 in Q3 to 250000"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1655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8E0"/>
                </a:solidFill>
                <a:latin typeface="Calibri"/>
              </a:rPr>
              <a:t>-&gt; write_cells resolves names to IDs, posts the value with full dimension targeting.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873752"/>
            <a:ext cx="11338560" cy="749808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1032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1B900"/>
                </a:solidFill>
                <a:latin typeface="Calibri"/>
              </a:rPr>
              <a:t>"Add these 50 new employees to the People list"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57800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8E0"/>
                </a:solidFill>
                <a:latin typeface="Calibri"/>
              </a:rPr>
              <a:t>-&gt; add_list_items bulk-inserts rows with code, name, and custom properties.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715000"/>
            <a:ext cx="11338560" cy="749808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75157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1B900"/>
                </a:solidFill>
                <a:latin typeface="Calibri"/>
              </a:rPr>
              <a:t>"Export the Forecast Summary view and save it to Downloads"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9904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8E0"/>
                </a:solidFill>
                <a:latin typeface="Calibri"/>
              </a:rPr>
              <a:t>-&gt; run_export completes the job, downloads chunks, saves to ~/Downloads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3657600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93B"/>
                </a:solidFill>
                <a:latin typeface="Calibri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574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D"/>
                </a:solidFill>
                <a:latin typeface="Calibri"/>
              </a:rPr>
              <a:t>Query any Anaplan resource in seconds via natural language. No UI navigation, no CSV exports, no bespoke scripts.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4630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463040"/>
            <a:ext cx="3657600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93B"/>
                </a:solidFill>
                <a:latin typeface="Calibri"/>
              </a:rP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0574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D"/>
                </a:solidFill>
                <a:latin typeface="Calibri"/>
              </a:rPr>
              <a:t>Credentials stay local. Read tools are fully safe. Write/run tools require explicit AI intent -- no accidental changes.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5592" y="14630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65592" y="1463040"/>
            <a:ext cx="3657600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93B"/>
                </a:solidFill>
                <a:latin typeface="Calibri"/>
              </a:rPr>
              <a:t>Reusability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0574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D"/>
                </a:solidFill>
                <a:latin typeface="Calibri"/>
              </a:rPr>
              <a:t>68 tools cover the full Integration API. Any team member or AI agent can use them without knowing the API internals.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5760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657600"/>
            <a:ext cx="3657600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840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93B"/>
                </a:solidFill>
                <a:latin typeface="Calibri"/>
              </a:rPr>
              <a:t>Extensibility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25196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D"/>
                </a:solidFill>
                <a:latin typeface="Calibri"/>
              </a:rPr>
              <a:t>Built to grow. ALM, SCIM, CloudWorks, and Audit APIs are next -- all reuse the same auth and client infrastructure.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6" y="365760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8536" y="3657600"/>
            <a:ext cx="3657600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840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93B"/>
                </a:solidFill>
                <a:latin typeface="Calibri"/>
              </a:rPr>
              <a:t>Transparency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25196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D"/>
                </a:solidFill>
                <a:latin typeface="Calibri"/>
              </a:rPr>
              <a:t>Every tool call is visible in the AI chat. Full audit trail of what was queried or changed, and why.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65592" y="365760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65592" y="3657600"/>
            <a:ext cx="3657600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3840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93B"/>
                </a:solidFill>
                <a:latin typeface="Calibri"/>
              </a:rPr>
              <a:t>Open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425196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D"/>
                </a:solidFill>
                <a:latin typeface="Calibri"/>
              </a:rPr>
              <a:t>MCP is backed by Anthropic and growing fast. Works today with Claude and Cursor; more AI hosts coming.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1B900"/>
                </a:solidFill>
                <a:latin typeface="Calibri"/>
              </a:rPr>
              <a:t>Integration API v2 fully covered. Four expansion phases in the roadmap: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5577840" cy="1920240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91440" cy="192024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2 -- ALM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317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0"/>
                </a:solidFill>
                <a:latin typeface="Calibri"/>
              </a:rPr>
              <a:t>Application Lifecycle Management API
Model deploy, promote, and sync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577840" cy="1920240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91440" cy="192024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8562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3 -- SCIM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317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0"/>
                </a:solidFill>
                <a:latin typeface="Calibri"/>
              </a:rPr>
              <a:t>User and Group Provisioning API
Automate onboarding and role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40480"/>
            <a:ext cx="5577840" cy="1920240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840480"/>
            <a:ext cx="91440" cy="192024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0050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4 -- CloudWorks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4805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0"/>
                </a:solidFill>
                <a:latin typeface="Calibri"/>
              </a:rPr>
              <a:t>Integration Scheduling and Orchestration API
Manage CloudWorks integrations from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5577840" cy="1920240"/>
          </a:xfrm>
          <a:prstGeom prst="rect">
            <a:avLst/>
          </a:prstGeom>
          <a:solidFill>
            <a:srgbClr val="29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40480"/>
            <a:ext cx="91440" cy="192024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0050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5 --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4805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8E0"/>
                </a:solidFill>
                <a:latin typeface="Calibri"/>
              </a:rPr>
              <a:t>Audit and Compliance Event Log API
Query who did what and when across Anaplan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2179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0A0"/>
                </a:solidFill>
                <a:latin typeface="Calibri"/>
              </a:rPr>
              <a:t>All phases reuse existing auth, client, and resolver infrastructure -- parallel development is possible.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188720"/>
            <a:ext cx="3931920" cy="3931920"/>
          </a:xfrm>
          <a:prstGeom prst="ellipse">
            <a:avLst/>
          </a:prstGeom>
          <a:solidFill>
            <a:srgbClr val="81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219456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C293B"/>
                </a:solidFill>
                <a:latin typeface="Calibri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949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1B900"/>
                </a:solidFill>
                <a:latin typeface="Calibri"/>
              </a:rPr>
              <a:t>github.com/larasrinath/anaplan-mcp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