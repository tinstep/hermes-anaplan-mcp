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solidFill>
              <a:srgbClr val="293E4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0F6CBF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62D84E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D1D1D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ln w="25400">
              <a:solidFill>
                <a:srgbClr val="293E40"/>
              </a:solidFill>
            </a:ln>
          </c:spPr>
          <c:marker>
            <c:symbol val="circle"/>
            <c:size val="7"/>
            <c:spPr>
              <a:solidFill>
                <a:srgbClr val="293E40"/>
              </a:solidFill>
              <a:ln>
                <a:solidFill>
                  <a:srgbClr val="293E4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ln w="25400">
              <a:solidFill>
                <a:srgbClr val="0F6CBF"/>
              </a:solidFill>
            </a:ln>
          </c:spPr>
          <c:marker>
            <c:symbol val="circle"/>
            <c:size val="7"/>
            <c:spPr>
              <a:solidFill>
                <a:srgbClr val="0F6CBF"/>
              </a:solidFill>
              <a:ln>
                <a:solidFill>
                  <a:srgbClr val="0F6CB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ln w="38100">
              <a:solidFill>
                <a:srgbClr val="62D84E"/>
              </a:solidFill>
            </a:ln>
          </c:spPr>
          <c:marker>
            <c:symbol val="circle"/>
            <c:size val="7"/>
            <c:spPr>
              <a:solidFill>
                <a:srgbClr val="62D84E"/>
              </a:solidFill>
              <a:ln>
                <a:solidFill>
                  <a:srgbClr val="62D84E"/>
                </a:solidFill>
              </a:ln>
            </c:spPr>
          </c:marke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293E4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D1D1D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293E40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3400</c:v>
                </c:pt>
                <c:pt idx="2">
                  <c:v>5400</c:v>
                </c:pt>
                <c:pt idx="3">
                  <c:v>5100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0F6CBF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2200</c:v>
                </c:pt>
                <c:pt idx="1">
                  <c:v>3000</c:v>
                </c:pt>
                <c:pt idx="2">
                  <c:v>3300</c:v>
                </c:pt>
                <c:pt idx="3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62D84E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2800</c:v>
                </c:pt>
                <c:pt idx="1">
                  <c:v>2400</c:v>
                </c:pt>
                <c:pt idx="2">
                  <c:v>4200</c:v>
                </c:pt>
                <c:pt idx="3">
                  <c:v>3600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8C929B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1D1D1D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3600</c:v>
                </c:pt>
                <c:pt idx="1">
                  <c:v>3000</c:v>
                </c:pt>
                <c:pt idx="2">
                  <c:v>5400</c:v>
                </c:pt>
                <c:pt idx="3">
                  <c:v>4500</c:v>
                </c:pt>
              </c:numCache>
            </c:numRef>
          </c:val>
        </c:ser>
        <c:gapWidth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1D1D1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D1D1D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FY26 Sales Forecast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926080"/>
            <a:ext cx="2743200" cy="3810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93E40"/>
                </a:solidFill>
                <a:latin typeface="Calibri"/>
              </a:defRPr>
            </a:pPr>
            <a:r>
              <a:t>Laptop Pro  |  Acme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[LARA] TEST MODEL  |  Anaplan Planning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Prepared: February 2026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FY26 forecasts project $18,300 for Laptop Pro, representing 55% growth over FY25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Acme Corporation  |  [LARA] TEST MODEL  |  Growth-adjusted forecast (1.5x multiplier)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FY26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D"/>
                </a:solidFill>
                <a:latin typeface="Calibri"/>
              </a:defRPr>
            </a:pPr>
            <a:r>
              <a:t>$18,300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2D84E"/>
                </a:solidFill>
                <a:latin typeface="Calibri"/>
              </a:defRPr>
            </a:pPr>
            <a:r>
              <a:t>+55.1%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FY25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D"/>
                </a:solidFill>
                <a:latin typeface="Calibri"/>
              </a:defRPr>
            </a:pPr>
            <a:r>
              <a:t>$11,800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-3.3%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FY24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D"/>
                </a:solidFill>
                <a:latin typeface="Calibri"/>
              </a:defRPr>
            </a:pPr>
            <a:r>
              <a:t>$12,200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929B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95944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FY27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D1D"/>
                </a:solidFill>
                <a:latin typeface="Calibri"/>
              </a:defRPr>
            </a:pPr>
            <a:r>
              <a:t>$17,700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-3.3%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657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D"/>
                </a:solidFill>
                <a:latin typeface="Calibri"/>
              </a:defRPr>
            </a:pPr>
            <a:r>
              <a:t>Projected 55.1% YoY growth from FY25 ($11.8K) to FY26 ($18.3K)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05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D"/>
                </a:solidFill>
                <a:latin typeface="Calibri"/>
              </a:defRPr>
            </a:pPr>
            <a:r>
              <a:t>Q4 consistently strongest quarter across all years (~30% of annual revenue)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3525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D"/>
                </a:solidFill>
                <a:latin typeface="Calibri"/>
              </a:defRPr>
            </a:pPr>
            <a:r>
              <a:t>FY26 forecast uses 1.5x growth multiplier on FY24 historical base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64024"/>
            <a:ext cx="109728" cy="109728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00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D"/>
                </a:solidFill>
                <a:latin typeface="Calibri"/>
              </a:defRPr>
            </a:pPr>
            <a:r>
              <a:t>Q2 shows structural weakness — potential for targeted sales initiatives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FY26 projects 55% growth driven by 1.5x historical multiplier — validate with Q1 actuals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Quarterly analysis reveals consistent Q4 peak and structural Q2 weakness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FY24 Actual vs FY25 Actual vs FY26 Forecast  |  Laptop Pro  |  Acme Corporation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D"/>
                </a:solidFill>
                <a:latin typeface="Calibri"/>
              </a:defRPr>
            </a:pPr>
            <a:r>
              <a:t>Year-over-Year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FY24&gt;25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FY25&gt;26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3545"/>
                </a:solidFill>
                <a:latin typeface="Calibri"/>
              </a:defRPr>
            </a:pPr>
            <a:r>
              <a:t>-5.6%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2D84E"/>
                </a:solidFill>
                <a:latin typeface="Calibri"/>
              </a:defRPr>
            </a:pPr>
            <a:r>
              <a:t>+58.8%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2D84E"/>
                </a:solidFill>
                <a:latin typeface="Calibri"/>
              </a:defRPr>
            </a:pPr>
            <a:r>
              <a:t>+36.4%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2D84E"/>
                </a:solidFill>
                <a:latin typeface="Calibri"/>
              </a:defRPr>
            </a:pPr>
            <a:r>
              <a:t>+10.0%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3545"/>
                </a:solidFill>
                <a:latin typeface="Calibri"/>
              </a:defRPr>
            </a:pPr>
            <a:r>
              <a:t>-14.3%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2D84E"/>
                </a:solidFill>
                <a:latin typeface="Calibri"/>
              </a:defRPr>
            </a:pPr>
            <a:r>
              <a:t>+75.0%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30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3545"/>
                </a:solidFill>
                <a:latin typeface="Calibri"/>
              </a:defRPr>
            </a:pPr>
            <a:r>
              <a:t>-16.7%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2D84E"/>
                </a:solidFill>
                <a:latin typeface="Calibri"/>
              </a:defRPr>
            </a:pPr>
            <a:r>
              <a:t>+80.0%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  <a:latin typeface="Calibri"/>
              </a:defRPr>
            </a:pPr>
            <a:r>
              <a:t>-3.3%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2D84E"/>
                </a:solidFill>
                <a:latin typeface="Calibri"/>
              </a:defRPr>
            </a:pPr>
            <a:r>
              <a:t>+55.1%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Q4 consistently delivers ~30% of annual revenue, suggesting year-end procurement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Monthly forecast pattern follows FY24 base with 1.5x growth multiplier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Month-by-month trend  |  Forecast = Historical FY24 x 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1054577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February and November consistently show demand peaks across all fiscal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Revenue detail shows $6,500 incremental value in FY26 over FY25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Laptop Pro  |  Acme Corporation  |  All figures in USD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7552740546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10547652000"/>
                <a:gridCol w="1510547652000"/>
                <a:gridCol w="1510547652000"/>
                <a:gridCol w="1510547652000"/>
                <a:gridCol w="151054765200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Year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FY24 Actual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$2,200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$12,200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FY25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FY26 Forecast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$3,300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$18,300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FY27 Outlook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931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D"/>
                </a:solidFill>
                <a:latin typeface="Calibri"/>
              </a:defRPr>
            </a:pPr>
            <a:r>
              <a:t>Monthly Breakdown — FY26 Forecast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297680"/>
          <a:ext cx="847247963614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293E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Forecast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$2,700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1D1D"/>
                          </a:solidFill>
                          <a:latin typeface="Calibri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FY26 represents $6,500 incremental revenue over FY25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Q4 contributes 30% of annual revenue across all forecast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Quarterly contribution to annual revenue  |  Year-end procurement cycle drives Q4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55448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916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D"/>
                </a:solidFill>
                <a:latin typeface="Calibri"/>
              </a:defRPr>
            </a:pPr>
            <a:r>
              <a:t>Seasonal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286000"/>
            <a:ext cx="50800" cy="64008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Q1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3E4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25603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Post-holiday ramp-up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154680"/>
            <a:ext cx="50800" cy="64008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3154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Q2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3E40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429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Budget cycle trough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023360"/>
            <a:ext cx="50800" cy="64008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023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Q3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3E40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4297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Mid-year project spending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4892040"/>
            <a:ext cx="50800" cy="64008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4892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Q4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3E4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Year-end procurement peak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Smooth Q2 trough with targeted promotions to unlock $1-2K additional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Forecast uses 2-year lookback with 50% growth adjustment as primary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Anaplan model structure and calculation logic  |  Sales Forecast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256032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D"/>
                </a:solidFill>
                <a:latin typeface="Calibri"/>
              </a:defRPr>
            </a:pPr>
            <a:r>
              <a:t>Historical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3E40"/>
                </a:solidFill>
                <a:latin typeface="Calibri"/>
              </a:defRPr>
            </a:pPr>
            <a:r>
              <a:t>Raw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Actual recorded sales.</a:t>
            </a:r>
            <a:br/>
            <a:r>
              <a:t>FY24: $12,200 | FY25: $11,800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Manual entry /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600200"/>
            <a:ext cx="256032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D"/>
                </a:solidFill>
                <a:latin typeface="Calibri"/>
              </a:defRPr>
            </a:pPr>
            <a:r>
              <a:t>Forecast -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3E40"/>
                </a:solidFill>
                <a:latin typeface="Calibri"/>
              </a:defRPr>
            </a:pPr>
            <a:r>
              <a:t>Historical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Monthly average smoothing</a:t>
            </a:r>
            <a:br/>
            <a:r>
              <a:t>volatility for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Simple averaging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1600200"/>
            <a:ext cx="256032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D"/>
                </a:solidFill>
                <a:latin typeface="Calibri"/>
              </a:defRPr>
            </a:pPr>
            <a:r>
              <a:t>Forecast - Prev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3E40"/>
                </a:solidFill>
                <a:latin typeface="Calibri"/>
              </a:defRPr>
            </a:pPr>
            <a:r>
              <a:t>OFFSET(Hist, 0, 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Same month prior year.</a:t>
            </a:r>
            <a:br/>
            <a:r>
              <a:t>No growth adjustment.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Naive seasonal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1600200"/>
            <a:ext cx="2560320" cy="4572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D"/>
                </a:solidFill>
                <a:latin typeface="Calibri"/>
              </a:defRPr>
            </a:pPr>
            <a:r>
              <a:t>Forecast (Primary)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3E40"/>
                </a:solidFill>
                <a:latin typeface="Calibri"/>
              </a:defRPr>
            </a:pPr>
            <a:r>
              <a:t>OFFSET(Hist,-24,0) x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29B"/>
                </a:solidFill>
                <a:latin typeface="Calibri"/>
              </a:defRPr>
            </a:pPr>
            <a:r>
              <a:t>2-year lookback, 50% growth.</a:t>
            </a:r>
            <a:br/>
            <a:r>
              <a:t>FY26: $18,300 projected.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Growth-adjusted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Primary forecast applies conservative 1.5x multiplier to 2-year lookback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3E40"/>
                </a:solidFill>
                <a:latin typeface="Calibri"/>
              </a:defRPr>
            </a:pPr>
            <a:r>
              <a:t>Aggressive multiplier and Q2 softness present primary forecast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29B"/>
                </a:solidFill>
                <a:latin typeface="Calibri"/>
              </a:defRPr>
            </a:pPr>
            <a:r>
              <a:t>Strategic considerations for FY26 forecast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50292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3545"/>
                </a:solidFill>
                <a:latin typeface="Calibri"/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Aggressive Growth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1.5x may not account for market saturation. Sensitivity analysis at 1.2x and 1.0x recommended.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Q2 Weakness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Consistent Q2 dip; FY26 Q2 at $3,300 is lowest quarter.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Zero FY26 Actuals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No real data yet — forecast relies on FY24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Single Customer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Acme Corp only. Portfolio-wide analysis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029200" cy="45720"/>
          </a:xfrm>
          <a:prstGeom prst="rect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2D84E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Q4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Q4 delivers ~30%. Focused campaigns could amplify seasonal peak.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Cross-Sell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Bundle Desktop Computer, Mouse, accessories for Acme Corp.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Forecast Beat Upside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If trends accelerate, actual could exceed $20K.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Q2 Promotion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29B"/>
                </a:solidFill>
                <a:latin typeface="Calibri"/>
              </a:defRPr>
            </a:pPr>
            <a:r>
              <a:t>Promotional pricing to smooth seasonal demand trough.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1D1D"/>
                </a:solidFill>
                <a:latin typeface="Calibri"/>
              </a:defRPr>
            </a:pPr>
            <a:r>
              <a:t>Net risk assessment: moderate — upside potential exceeds downside exposure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93E40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011680"/>
            <a:ext cx="2286000" cy="38100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929B"/>
                </a:solidFill>
                <a:latin typeface="Calibri"/>
              </a:defRPr>
            </a:pPr>
            <a:r>
              <a:t>Source: [LARA] TEST MODEL, Anaplan |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29B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468880"/>
            <a:ext cx="320040" cy="320040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87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29B"/>
                </a:solidFill>
                <a:latin typeface="Calibri"/>
              </a:defRPr>
            </a:pPr>
            <a:r>
              <a:t>Validate FY26 Q1 actuals against $5,400 quarterly forecast to calibrate multiplier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971800"/>
            <a:ext cx="320040" cy="320040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0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29B"/>
                </a:solidFill>
                <a:latin typeface="Calibri"/>
              </a:defRPr>
            </a:pPr>
            <a:r>
              <a:t>Develop Q2 promotional strategy to address historical seasonal weakness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74720"/>
            <a:ext cx="320040" cy="320040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93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29B"/>
                </a:solidFill>
                <a:latin typeface="Calibri"/>
              </a:defRPr>
            </a:pPr>
            <a:r>
              <a:t>Expand cross-customer analysis — replicate forecast for top 5 Laptop Pro accounts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977640"/>
            <a:ext cx="320040" cy="320040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95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29B"/>
                </a:solidFill>
                <a:latin typeface="Calibri"/>
              </a:defRPr>
            </a:pPr>
            <a:r>
              <a:t>Build scenario models (bear: 1.0x, base: 1.5x, bull: 2.0x) for executive planning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80560"/>
            <a:ext cx="320040" cy="320040"/>
          </a:xfrm>
          <a:prstGeom prst="ellipse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98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29B"/>
                </a:solidFill>
                <a:latin typeface="Calibri"/>
              </a:defRPr>
            </a:pPr>
            <a:r>
              <a:t>Schedule monthly forecast-vs-actual review cadence starting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Prepared with Anaplan MCP  |  [LARA] TEST MODEL  |  February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93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