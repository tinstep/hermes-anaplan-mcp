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FY24 Actual</c:v>
                </c:pt>
              </c:strCache>
            </c:strRef>
          </c:tx>
          <c:spPr>
            <a:solidFill>
              <a:srgbClr val="6B6B6B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3600</c:v>
                </c:pt>
                <c:pt idx="1">
                  <c:v>2200</c:v>
                </c:pt>
                <c:pt idx="2">
                  <c:v>2800</c:v>
                </c:pt>
                <c:pt idx="3">
                  <c:v>3600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 Actual</c:v>
                </c:pt>
              </c:strCache>
            </c:strRef>
          </c:tx>
          <c:spPr>
            <a:solidFill>
              <a:srgbClr val="8184F7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3400</c:v>
                </c:pt>
                <c:pt idx="1">
                  <c:v>3000</c:v>
                </c:pt>
                <c:pt idx="2">
                  <c:v>2400</c:v>
                </c:pt>
                <c:pt idx="3">
                  <c:v>3000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FY26 Forecast</c:v>
                </c:pt>
              </c:strCache>
            </c:strRef>
          </c:tx>
          <c:spPr>
            <a:solidFill>
              <a:srgbClr val="6366F1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5400</c:v>
                </c:pt>
                <c:pt idx="1">
                  <c:v>3300</c:v>
                </c:pt>
                <c:pt idx="2">
                  <c:v>4200</c:v>
                </c:pt>
                <c:pt idx="3">
                  <c:v>5400</c:v>
                </c:pt>
              </c:numCache>
            </c:numRef>
          </c:val>
        </c:ser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3"/>
            </a:solidFill>
          </a:ln>
        </c:spPr>
        <c:txPr>
          <a:bodyPr/>
          <a:lstStyle/>
          <a:p>
            <a:pPr>
              <a:defRPr sz="1100">
                <a:solidFill>
                  <a:srgbClr val="A0A0A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3333"/>
              </a:solidFill>
            </a:ln>
          </c:spPr>
        </c:majorGridlines>
        <c:numFmt formatCode="$#,##0" sourceLinked="0"/>
        <c:majorTickMark val="out"/>
        <c:minorTickMark val="none"/>
        <c:tickLblPos val="nextTo"/>
        <c:spPr>
          <a:ln>
            <a:solidFill>
              <a:srgbClr val="333333"/>
            </a:solidFill>
          </a:ln>
        </c:spPr>
        <c:txPr>
          <a:bodyPr/>
          <a:lstStyle/>
          <a:p>
            <a:pPr>
              <a:defRPr sz="1000">
                <a:solidFill>
                  <a:srgbClr val="A0A0A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A0A0A0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FY24 Actual</c:v>
                </c:pt>
              </c:strCache>
            </c:strRef>
          </c:tx>
          <c:spPr>
            <a:ln w="25400">
              <a:solidFill>
                <a:srgbClr val="6B6B6B"/>
              </a:solidFill>
            </a:ln>
          </c:spPr>
          <c:marker>
            <c:symbol val="circle"/>
            <c:size val="8"/>
            <c:spPr>
              <a:solidFill>
                <a:srgbClr val="6B6B6B"/>
              </a:solidFill>
              <a:ln>
                <a:solidFill>
                  <a:srgbClr val="6B6B6B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600</c:v>
                </c:pt>
                <c:pt idx="1">
                  <c:v>1800</c:v>
                </c:pt>
                <c:pt idx="2">
                  <c:v>1200</c:v>
                </c:pt>
                <c:pt idx="3">
                  <c:v>400</c:v>
                </c:pt>
                <c:pt idx="4">
                  <c:v>800</c:v>
                </c:pt>
                <c:pt idx="5">
                  <c:v>1000</c:v>
                </c:pt>
                <c:pt idx="6">
                  <c:v>1000</c:v>
                </c:pt>
                <c:pt idx="7">
                  <c:v>1200</c:v>
                </c:pt>
                <c:pt idx="8">
                  <c:v>600</c:v>
                </c:pt>
                <c:pt idx="9">
                  <c:v>200</c:v>
                </c:pt>
                <c:pt idx="10">
                  <c:v>2000</c:v>
                </c:pt>
                <c:pt idx="11">
                  <c:v>1400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 Actual</c:v>
                </c:pt>
              </c:strCache>
            </c:strRef>
          </c:tx>
          <c:spPr>
            <a:ln w="25400">
              <a:solidFill>
                <a:srgbClr val="8184F7"/>
              </a:solidFill>
            </a:ln>
          </c:spPr>
          <c:marker>
            <c:symbol val="circle"/>
            <c:size val="8"/>
            <c:spPr>
              <a:solidFill>
                <a:srgbClr val="8184F7"/>
              </a:solidFill>
              <a:ln>
                <a:solidFill>
                  <a:srgbClr val="8184F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600</c:v>
                </c:pt>
                <c:pt idx="1">
                  <c:v>1200</c:v>
                </c:pt>
                <c:pt idx="2">
                  <c:v>1600</c:v>
                </c:pt>
                <c:pt idx="3">
                  <c:v>0</c:v>
                </c:pt>
                <c:pt idx="4">
                  <c:v>1600</c:v>
                </c:pt>
                <c:pt idx="5">
                  <c:v>1400</c:v>
                </c:pt>
                <c:pt idx="6">
                  <c:v>1600</c:v>
                </c:pt>
                <c:pt idx="7">
                  <c:v>600</c:v>
                </c:pt>
                <c:pt idx="8">
                  <c:v>200</c:v>
                </c:pt>
                <c:pt idx="9">
                  <c:v>800</c:v>
                </c:pt>
                <c:pt idx="10">
                  <c:v>1800</c:v>
                </c:pt>
                <c:pt idx="11">
                  <c:v>400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FY26 Forecast</c:v>
                </c:pt>
              </c:strCache>
            </c:strRef>
          </c:tx>
          <c:spPr>
            <a:ln w="38100">
              <a:solidFill>
                <a:srgbClr val="6366F1"/>
              </a:solidFill>
            </a:ln>
          </c:spPr>
          <c:marker>
            <c:symbol val="circle"/>
            <c:size val="8"/>
            <c:spPr>
              <a:solidFill>
                <a:srgbClr val="6366F1"/>
              </a:solidFill>
              <a:ln>
                <a:solidFill>
                  <a:srgbClr val="6366F1"/>
                </a:solidFill>
              </a:ln>
            </c:spPr>
          </c:marker>
          <c:dLbls>
            <c:numFmt formatCode="$#,##0" sourceLinked="0"/>
            <c:txPr>
              <a:bodyPr/>
              <a:lstStyle/>
              <a:p>
                <a:pPr>
                  <a:defRPr sz="900">
                    <a:solidFill>
                      <a:srgbClr val="6366F1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900</c:v>
                </c:pt>
                <c:pt idx="1">
                  <c:v>2700</c:v>
                </c:pt>
                <c:pt idx="2">
                  <c:v>1800</c:v>
                </c:pt>
                <c:pt idx="3">
                  <c:v>600</c:v>
                </c:pt>
                <c:pt idx="4">
                  <c:v>1200</c:v>
                </c:pt>
                <c:pt idx="5">
                  <c:v>1500</c:v>
                </c:pt>
                <c:pt idx="6">
                  <c:v>1500</c:v>
                </c:pt>
                <c:pt idx="7">
                  <c:v>1800</c:v>
                </c:pt>
                <c:pt idx="8">
                  <c:v>900</c:v>
                </c:pt>
                <c:pt idx="9">
                  <c:v>300</c:v>
                </c:pt>
                <c:pt idx="10">
                  <c:v>3000</c:v>
                </c:pt>
                <c:pt idx="11">
                  <c:v>2100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3"/>
            </a:solidFill>
          </a:ln>
        </c:spPr>
        <c:txPr>
          <a:bodyPr/>
          <a:lstStyle/>
          <a:p>
            <a:pPr>
              <a:defRPr sz="1000">
                <a:solidFill>
                  <a:srgbClr val="A0A0A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333333"/>
              </a:solidFill>
            </a:ln>
          </c:spPr>
        </c:majorGridlines>
        <c:numFmt formatCode="$#,##0" sourceLinked="0"/>
        <c:majorTickMark val="out"/>
        <c:minorTickMark val="none"/>
        <c:tickLblPos val="nextTo"/>
        <c:spPr>
          <a:ln>
            <a:solidFill>
              <a:srgbClr val="333333"/>
            </a:solidFill>
          </a:ln>
        </c:spPr>
        <c:txPr>
          <a:bodyPr/>
          <a:lstStyle/>
          <a:p>
            <a:pPr>
              <a:defRPr sz="1000">
                <a:solidFill>
                  <a:srgbClr val="A0A0A0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A0A0A0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Q1</c:v>
                </c:pt>
              </c:strCache>
            </c:strRef>
          </c:tx>
          <c:spPr>
            <a:solidFill>
              <a:srgbClr val="6366F1"/>
            </a:solidFill>
          </c:spPr>
          <c:dLbls>
            <c:numFmt formatCode="$#,##0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FY24</c:v>
                </c:pt>
                <c:pt idx="1">
                  <c:v>FY25</c:v>
                </c:pt>
                <c:pt idx="2">
                  <c:v>FY26</c:v>
                </c:pt>
                <c:pt idx="3">
                  <c:v>FY27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3600</c:v>
                </c:pt>
                <c:pt idx="1">
                  <c:v>3400</c:v>
                </c:pt>
                <c:pt idx="2">
                  <c:v>5400</c:v>
                </c:pt>
                <c:pt idx="3">
                  <c:v>5100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rgbClr val="8184F7"/>
            </a:solidFill>
          </c:spPr>
          <c:dLbls>
            <c:numFmt formatCode="$#,##0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FY24</c:v>
                </c:pt>
                <c:pt idx="1">
                  <c:v>FY25</c:v>
                </c:pt>
                <c:pt idx="2">
                  <c:v>FY26</c:v>
                </c:pt>
                <c:pt idx="3">
                  <c:v>FY27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2200</c:v>
                </c:pt>
                <c:pt idx="1">
                  <c:v>3000</c:v>
                </c:pt>
                <c:pt idx="2">
                  <c:v>3300</c:v>
                </c:pt>
                <c:pt idx="3">
                  <c:v>4500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rgbClr val="22C55E"/>
            </a:solidFill>
          </c:spPr>
          <c:dLbls>
            <c:numFmt formatCode="$#,##0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FY24</c:v>
                </c:pt>
                <c:pt idx="1">
                  <c:v>FY25</c:v>
                </c:pt>
                <c:pt idx="2">
                  <c:v>FY26</c:v>
                </c:pt>
                <c:pt idx="3">
                  <c:v>FY27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2800</c:v>
                </c:pt>
                <c:pt idx="1">
                  <c:v>2400</c:v>
                </c:pt>
                <c:pt idx="2">
                  <c:v>4200</c:v>
                </c:pt>
                <c:pt idx="3">
                  <c:v>3600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Q4</c:v>
                </c:pt>
              </c:strCache>
            </c:strRef>
          </c:tx>
          <c:spPr>
            <a:solidFill>
              <a:srgbClr val="FACC15"/>
            </a:solidFill>
          </c:spPr>
          <c:dLbls>
            <c:numFmt formatCode="$#,##0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FY24</c:v>
                </c:pt>
                <c:pt idx="1">
                  <c:v>FY25</c:v>
                </c:pt>
                <c:pt idx="2">
                  <c:v>FY26</c:v>
                </c:pt>
                <c:pt idx="3">
                  <c:v>FY27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3600</c:v>
                </c:pt>
                <c:pt idx="1">
                  <c:v>3000</c:v>
                </c:pt>
                <c:pt idx="2">
                  <c:v>5400</c:v>
                </c:pt>
                <c:pt idx="3">
                  <c:v>4500</c:v>
                </c:pt>
              </c:numCache>
            </c:numRef>
          </c:val>
        </c:ser>
        <c:gapWidth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3"/>
            </a:solidFill>
          </a:ln>
        </c:spPr>
        <c:txPr>
          <a:bodyPr/>
          <a:lstStyle/>
          <a:p>
            <a:pPr>
              <a:defRPr sz="1100">
                <a:solidFill>
                  <a:srgbClr val="A0A0A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3333"/>
              </a:solidFill>
            </a:ln>
          </c:spPr>
        </c:majorGridlines>
        <c:numFmt formatCode="$#,##0" sourceLinked="0"/>
        <c:majorTickMark val="out"/>
        <c:minorTickMark val="none"/>
        <c:tickLblPos val="nextTo"/>
        <c:spPr>
          <a:ln>
            <a:solidFill>
              <a:srgbClr val="333333"/>
            </a:solidFill>
          </a:ln>
        </c:spPr>
        <c:txPr>
          <a:bodyPr/>
          <a:lstStyle/>
          <a:p>
            <a:pPr>
              <a:defRPr sz="1000">
                <a:solidFill>
                  <a:srgbClr val="A0A0A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A0A0A0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FY26 Sales Forecast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6366F1"/>
                </a:solidFill>
                <a:latin typeface="Calibri"/>
              </a:defRPr>
            </a:pPr>
            <a:r>
              <a:t>Laptop Pro  |  Acme Corporation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840480"/>
            <a:ext cx="274320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Source: [LARA] TEST MODEL  |  Anaplan Planning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66344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Prepared: February 2026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A0A0A0"/>
                </a:solidFill>
                <a:latin typeface="Calibri"/>
              </a:defRPr>
            </a:pPr>
            <a:r>
              <a:t>FY26 forecasts project 55% revenue growth for Laptop Pro at Acme Corporation, driven by historical momentum and 1.5x growth multiplier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468880" cy="201168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  <a:latin typeface="Calibri"/>
              </a:defRPr>
            </a:pPr>
            <a:r>
              <a:t>FY26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20116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$18,300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632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C55E"/>
                </a:solidFill>
                <a:latin typeface="Calibri"/>
              </a:defRPr>
            </a:pPr>
            <a:r>
              <a:t>+55.1%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38328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B6B6B"/>
                </a:solidFill>
                <a:latin typeface="Calibri"/>
              </a:defRPr>
            </a:pPr>
            <a:r>
              <a:t>vs FY25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828800"/>
            <a:ext cx="2468880" cy="201168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05740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  <a:latin typeface="Calibri"/>
              </a:defRPr>
            </a:pPr>
            <a:r>
              <a:t>FY25 Actual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423160"/>
            <a:ext cx="20116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$11,800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632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-3.3%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38328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B6B6B"/>
                </a:solidFill>
                <a:latin typeface="Calibri"/>
              </a:defRPr>
            </a:pPr>
            <a:r>
              <a:t>vs FY24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828800"/>
            <a:ext cx="2468880" cy="201168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  <a:latin typeface="Calibri"/>
              </a:defRPr>
            </a:pPr>
            <a:r>
              <a:t>FY24 Actual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423160"/>
            <a:ext cx="20116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$12,200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A0A0A0"/>
                </a:solidFill>
                <a:latin typeface="Calibri"/>
              </a:defRPr>
            </a:pPr>
            <a:r>
              <a:t>-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38328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B6B6B"/>
                </a:solidFill>
                <a:latin typeface="Calibri"/>
              </a:defRPr>
            </a:pPr>
            <a:r>
              <a:t>Baseline Year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828800"/>
            <a:ext cx="2468880" cy="201168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205740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  <a:latin typeface="Calibri"/>
              </a:defRPr>
            </a:pPr>
            <a:r>
              <a:t>FY27 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423160"/>
            <a:ext cx="20116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$17,700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06324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-3.3%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38328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B6B6B"/>
                </a:solidFill>
                <a:latin typeface="Calibri"/>
              </a:defRPr>
            </a:pPr>
            <a:r>
              <a:t>vs FY26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206240"/>
            <a:ext cx="54864" cy="3200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160520"/>
            <a:ext cx="4572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7" name="Oval 26"/>
          <p:cNvSpPr/>
          <p:nvPr/>
        </p:nvSpPr>
        <p:spPr>
          <a:xfrm>
            <a:off x="914400" y="4736592"/>
            <a:ext cx="91440" cy="914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46634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Projected 55.1% YoY growth from FY25 ($11.8K) to FY26 ($18.3K)</a:t>
            </a:r>
          </a:p>
        </p:txBody>
      </p:sp>
      <p:sp>
        <p:nvSpPr>
          <p:cNvPr id="29" name="Oval 28"/>
          <p:cNvSpPr/>
          <p:nvPr/>
        </p:nvSpPr>
        <p:spPr>
          <a:xfrm>
            <a:off x="914400" y="5102352"/>
            <a:ext cx="91440" cy="914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502920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Q4 consistently strongest quarter across all years (seasonal peak Nov-Dec)</a:t>
            </a:r>
          </a:p>
        </p:txBody>
      </p:sp>
      <p:sp>
        <p:nvSpPr>
          <p:cNvPr id="31" name="Oval 30"/>
          <p:cNvSpPr/>
          <p:nvPr/>
        </p:nvSpPr>
        <p:spPr>
          <a:xfrm>
            <a:off x="914400" y="5468112"/>
            <a:ext cx="91440" cy="914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39496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FY26 forecast uses 1.5x historical multiplier applied to FY24 base data</a:t>
            </a:r>
          </a:p>
        </p:txBody>
      </p:sp>
      <p:sp>
        <p:nvSpPr>
          <p:cNvPr id="33" name="Oval 32"/>
          <p:cNvSpPr/>
          <p:nvPr/>
        </p:nvSpPr>
        <p:spPr>
          <a:xfrm>
            <a:off x="914400" y="5833872"/>
            <a:ext cx="91440" cy="914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57607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Q2 shows relative softness — potential area for targeted sales initiatives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Quarterly 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FY24 Actual vs FY25 Actual vs FY26 Forecast  |  Laptop Pro  |  Acme Corporation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554480"/>
          <a:ext cx="6858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46720" y="155448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7373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Year-over-Year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28600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2860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FY24&gt;25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22860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FY25&gt;26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74320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  <a:latin typeface="Calibri"/>
              </a:defRPr>
            </a:pPr>
            <a: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27432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EF4444"/>
                </a:solidFill>
                <a:latin typeface="Calibri"/>
              </a:defRPr>
            </a:pPr>
            <a:r>
              <a:t>-5.6%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27432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22C55E"/>
                </a:solidFill>
                <a:latin typeface="Calibri"/>
              </a:defRPr>
            </a:pPr>
            <a:r>
              <a:t>+58.8%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20040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  <a:latin typeface="Calibri"/>
              </a:defRPr>
            </a:pPr>
            <a: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2004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22C55E"/>
                </a:solidFill>
                <a:latin typeface="Calibri"/>
              </a:defRPr>
            </a:pPr>
            <a:r>
              <a:t>+36.4%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32004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22C55E"/>
                </a:solidFill>
                <a:latin typeface="Calibri"/>
              </a:defRPr>
            </a:pPr>
            <a:r>
              <a:t>+10.0%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65760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  <a:latin typeface="Calibri"/>
              </a:defRPr>
            </a:pPr>
            <a: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6576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EF4444"/>
                </a:solidFill>
                <a:latin typeface="Calibri"/>
              </a:defRPr>
            </a:pPr>
            <a:r>
              <a:t>-14.3%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36576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22C55E"/>
                </a:solidFill>
                <a:latin typeface="Calibri"/>
              </a:defRPr>
            </a:pPr>
            <a:r>
              <a:t>+75.0%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11480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  <a:latin typeface="Calibri"/>
              </a:defRPr>
            </a:pPr>
            <a: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1148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EF4444"/>
                </a:solidFill>
                <a:latin typeface="Calibri"/>
              </a:defRPr>
            </a:pPr>
            <a:r>
              <a:t>-16.7%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41148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22C55E"/>
                </a:solidFill>
                <a:latin typeface="Calibri"/>
              </a:defRPr>
            </a:pPr>
            <a:r>
              <a:t>+80.0%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57200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5720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EF4444"/>
                </a:solidFill>
                <a:latin typeface="Calibri"/>
              </a:defRPr>
            </a:pPr>
            <a:r>
              <a:t>-3.3%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572000"/>
            <a:ext cx="1005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22C55E"/>
                </a:solidFill>
                <a:latin typeface="Calibri"/>
              </a:defRPr>
            </a:pPr>
            <a:r>
              <a:t>+55.1%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724912"/>
            <a:ext cx="3108960" cy="137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5010912"/>
            <a:ext cx="3108960" cy="137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FY26 Monthly Forecast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Month-by-month forecast with quarterly aggregation  |  Forecast = Historical FY24 x 1.5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554480"/>
          <a:ext cx="1069848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Detailed Revenue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Laptop Pro  |  Acme Corporation  |  All figures in USD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645920"/>
                <a:gridCol w="1645920"/>
                <a:gridCol w="164592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Q1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Q2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Q3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Q4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Full Year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FY24 Actual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$3,600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$2,200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$2,800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$3,600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$12,200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FY25 Actual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$3,400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$3,000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$2,400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$3,000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$11,800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FY26 Forecast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$5,400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$3,300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$4,200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$5,400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$18,300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FY27 Outlook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$5,100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$4,500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$3,600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$4,500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$17,700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Monthly Breakdown — FY26 Forecast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4572000"/>
          <a:ext cx="106984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FY26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Jan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Feb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Mar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Apr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May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Jun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Jul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Aug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Sep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Oct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Nov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Dec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Forecast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$900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$2,700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$600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$1,200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$1,500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$1,500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$900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$300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$3,000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$2,100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Seasonal Pattern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Quarterly contribution to annual revenue  |  Consistent Q4 peak driven by year-end procurement cycles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554480"/>
          <a:ext cx="64008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554480"/>
            <a:ext cx="4114800" cy="457200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566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Seasonal Insights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377440"/>
            <a:ext cx="36576" cy="640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37744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Q1 Contribution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63347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6366F1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670048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  <a:latin typeface="Calibri"/>
              </a:defRPr>
            </a:pPr>
            <a:r>
              <a:t>Moderate start — post-holiday ramp-up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3337560"/>
            <a:ext cx="36576" cy="640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3756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Q2 Contribution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59359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6366F1"/>
                </a:solidFill>
                <a:latin typeface="Calibri"/>
              </a:defRPr>
            </a:pPr>
            <a:r>
              <a:t>18%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630168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  <a:latin typeface="Calibri"/>
              </a:defRPr>
            </a:pPr>
            <a:r>
              <a:t>Lowest quarter — budget cycle trough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297680"/>
            <a:ext cx="36576" cy="640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29768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Q3 Contribution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55371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6366F1"/>
                </a:solidFill>
                <a:latin typeface="Calibri"/>
              </a:defRPr>
            </a:pPr>
            <a:r>
              <a:t>23%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590288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  <a:latin typeface="Calibri"/>
              </a:defRPr>
            </a:pPr>
            <a:r>
              <a:t>Mid-year recovery — project spending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0" y="5257800"/>
            <a:ext cx="36576" cy="640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525780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Q4 Contribution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51383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6366F1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550408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  <a:latin typeface="Calibri"/>
              </a:defRPr>
            </a:pPr>
            <a:r>
              <a:t>Peak quarter — year-end procurement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Forecast Methodology &amp; Line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Anaplan model structure and calculation logic  |  Sales Forecast module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11480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603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Historical Sales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94560"/>
            <a:ext cx="2194560" cy="365760"/>
          </a:xfrm>
          <a:prstGeom prst="roundRect">
            <a:avLst>
              <a:gd name="adj" fmla="val 2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6F1"/>
                </a:solidFill>
                <a:latin typeface="Calibri"/>
              </a:defRPr>
            </a:pPr>
            <a:r>
              <a:t>Raw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1945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  <a:latin typeface="Calibri"/>
              </a:defRPr>
            </a:pPr>
            <a:r>
              <a:t>Actual recorded sales data</a:t>
            </a:r>
            <a:br/>
            <a:r>
              <a:t>from transactional systems.</a:t>
            </a:r>
            <a:br/>
            <a:br/>
            <a:r>
              <a:t>FY24: $12,200</a:t>
            </a:r>
            <a:br/>
            <a:r>
              <a:t>FY25: $11,800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Manual data entry / import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645920"/>
            <a:ext cx="2560320" cy="411480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645920"/>
            <a:ext cx="25603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82880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Forecast - Mean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194560"/>
            <a:ext cx="2194560" cy="365760"/>
          </a:xfrm>
          <a:prstGeom prst="roundRect">
            <a:avLst>
              <a:gd name="adj" fmla="val 2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0" y="224028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6F1"/>
                </a:solidFill>
                <a:latin typeface="Calibri"/>
              </a:defRPr>
            </a:pPr>
            <a:r>
              <a:t>Historical Sales /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743200"/>
            <a:ext cx="21945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  <a:latin typeface="Calibri"/>
              </a:defRPr>
            </a:pPr>
            <a:r>
              <a:t>Monthly average of annual</a:t>
            </a:r>
            <a:br/>
            <a:r>
              <a:t>historical sales.</a:t>
            </a:r>
            <a:br/>
            <a:br/>
            <a:r>
              <a:t>Smoothes volatility for</a:t>
            </a:r>
            <a:br/>
            <a:r>
              <a:t>steady-state baseline.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212080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Simple averaging method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645920"/>
            <a:ext cx="2560320" cy="411480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645920"/>
            <a:ext cx="25603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2880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Forecast - Previous Year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194560"/>
            <a:ext cx="2194560" cy="365760"/>
          </a:xfrm>
          <a:prstGeom prst="roundRect">
            <a:avLst>
              <a:gd name="adj" fmla="val 2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24028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6F1"/>
                </a:solidFill>
                <a:latin typeface="Calibri"/>
              </a:defRPr>
            </a:pPr>
            <a:r>
              <a:t>OFFSET(Historical, 0, -12)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743200"/>
            <a:ext cx="21945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  <a:latin typeface="Calibri"/>
              </a:defRPr>
            </a:pPr>
            <a:r>
              <a:t>Same month, prior year.</a:t>
            </a:r>
            <a:br/>
            <a:r>
              <a:t>Assumes repeat patterns</a:t>
            </a:r>
            <a:br/>
            <a:r>
              <a:t>with no growth adjustment.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212080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Naive seasonal forecast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1645920"/>
            <a:ext cx="2560320" cy="411480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1645920"/>
            <a:ext cx="256032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82880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Forecast (Primary)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2194560"/>
            <a:ext cx="2194560" cy="365760"/>
          </a:xfrm>
          <a:prstGeom prst="roundRect">
            <a:avLst>
              <a:gd name="adj" fmla="val 2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224028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6F1"/>
                </a:solidFill>
                <a:latin typeface="Calibri"/>
              </a:defRPr>
            </a:pPr>
            <a:r>
              <a:t>OFFSET(Historical, -24, 0) x 1.5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743200"/>
            <a:ext cx="21945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  <a:latin typeface="Calibri"/>
              </a:defRPr>
            </a:pPr>
            <a:r>
              <a:t>Two-year lookback with</a:t>
            </a:r>
            <a:br/>
            <a:r>
              <a:t>50% growth multiplier.</a:t>
            </a:r>
            <a:br/>
            <a:br/>
            <a:r>
              <a:t>FY26: $18,300 projected.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5212080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Growth-adjusted forecast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Risks &amp;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t>Strategic considerations for FY26 forecast achievement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57200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02920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4480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Aggressive Growth Multiplier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87752"/>
            <a:ext cx="4480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0A0A0"/>
                </a:solidFill>
                <a:latin typeface="Calibri"/>
              </a:defRPr>
            </a:pPr>
            <a:r>
              <a:t>1.5x multiplier may not account for market saturation or competitive pressure. Consider sensitivity analysis at 1.2x and 1.0x.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4480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Q2 Weakness Pattern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02152"/>
            <a:ext cx="4480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0A0A0"/>
                </a:solidFill>
                <a:latin typeface="Calibri"/>
              </a:defRPr>
            </a:pPr>
            <a:r>
              <a:t>Consistent Q2 dip across FY24-25 suggests structural demand trough. FY26 Q2 forecasts $3,300 — lowest quarter.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60520"/>
            <a:ext cx="4480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Zero Historical FY26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16552"/>
            <a:ext cx="4480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0A0A0"/>
                </a:solidFill>
                <a:latin typeface="Calibri"/>
              </a:defRPr>
            </a:pPr>
            <a:r>
              <a:t>No actual data for FY26 yet — forecast relies entirely on FY24 historical base. Early actuals may deviate significantly.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4480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Single-Customer Concentration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330952"/>
            <a:ext cx="4480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0A0A0"/>
                </a:solidFill>
                <a:latin typeface="Calibri"/>
              </a:defRPr>
            </a:pPr>
            <a:r>
              <a:t>Report focuses on Acme Corp only. Cross-customer analysis needed for portfolio risk assessment.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645920"/>
            <a:ext cx="5029200" cy="4572000"/>
          </a:xfrm>
          <a:prstGeom prst="roundRect">
            <a:avLst>
              <a:gd name="adj" fmla="val 2000"/>
            </a:avLst>
          </a:prstGeom>
          <a:solidFill>
            <a:srgbClr val="262626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645920"/>
            <a:ext cx="502920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82880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C55E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331720"/>
            <a:ext cx="4480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Q4 Momentum Capture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587752"/>
            <a:ext cx="4480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0A0A0"/>
                </a:solidFill>
                <a:latin typeface="Calibri"/>
              </a:defRPr>
            </a:pPr>
            <a:r>
              <a:t>Q4 consistently delivers ~30% of annual revenue. Focused Q4 campaigns for Laptop Pro could amplify the natural seasonal peak.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246120"/>
            <a:ext cx="4480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Cross-Sell Potential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502152"/>
            <a:ext cx="4480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0A0A0"/>
                </a:solidFill>
                <a:latin typeface="Calibri"/>
              </a:defRPr>
            </a:pPr>
            <a:r>
              <a:t>Acme Corp purchases only Laptop Pro currently. Opportunity to bundle Desktop Computer, Wireless Mouse, and accessories.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160520"/>
            <a:ext cx="4480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Forecast Beat Upside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416552"/>
            <a:ext cx="4480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0A0A0"/>
                </a:solidFill>
                <a:latin typeface="Calibri"/>
              </a:defRPr>
            </a:pPr>
            <a:r>
              <a:t>If FY25 H2 trends accelerate, actual FY26 could exceed the 1.5x projection. Build capacity for $20K+ scenario.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074920"/>
            <a:ext cx="4480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Pipeline Acceleration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330952"/>
            <a:ext cx="4480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0A0A0"/>
                </a:solidFill>
                <a:latin typeface="Calibri"/>
              </a:defRPr>
            </a:pPr>
            <a:r>
              <a:t>Q2 weakness presents an opportunity for promotional pricing or volume incentives to smooth seasonal demand.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Recommendations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228600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2761488"/>
            <a:ext cx="320040" cy="3200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74320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Validate FY26 Q1 actuals against forecast to calibrate the 1.5x growth multiplier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264408"/>
            <a:ext cx="320040" cy="3200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Develop Q2 promotional strategy to address historical seasonal weakness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3767328"/>
            <a:ext cx="320040" cy="3200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74904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Expand cross-customer analysis — replicate this forecast for top 5 Laptop Pro accounts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270248"/>
            <a:ext cx="320040" cy="3200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25196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Build scenario models (bear: 1.0x, base: 1.5x, bull: 2.0x) for executive planning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773168"/>
            <a:ext cx="320040" cy="3200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75488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Schedule monthly forecast-vs-actual review cadence starting March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6692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B6B6B"/>
                </a:solidFill>
                <a:latin typeface="Calibri"/>
              </a:defRPr>
            </a:pPr>
            <a:r>
              <a:t>Prepared with Anaplan MCP  |  [LARA] TEST MODEL  |  February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