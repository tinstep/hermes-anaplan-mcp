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006B3F"/>
            </a:solidFill>
            <a:ln w="38100" cap="flat">
              <a:solidFill>
                <a:srgbClr val="006B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6B3F"/>
              </a:solidFill>
              <a:ln w="9525" cap="flat">
                <a:solidFill>
                  <a:srgbClr val="006B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FY27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12200</c:v>
                </c:pt>
                <c:pt idx="1">
                  <c:v>11800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0077C8"/>
            </a:solidFill>
            <a:ln w="38100" cap="flat">
              <a:solidFill>
                <a:srgbClr val="0077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C8"/>
              </a:solidFill>
              <a:ln w="9525" cap="flat">
                <a:solidFill>
                  <a:srgbClr val="0077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FY27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18300</c:v>
                </c:pt>
                <c:pt idx="3">
                  <c:v>17700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FY24 Actual</c:v>
                </c:pt>
              </c:strCache>
            </c:strRef>
          </c:tx>
          <c:spPr>
            <a:solidFill>
              <a:srgbClr val="006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3600</c:v>
                </c:pt>
                <c:pt idx="1">
                  <c:v>2200</c:v>
                </c:pt>
                <c:pt idx="2">
                  <c:v>2800</c:v>
                </c:pt>
                <c:pt idx="3">
                  <c:v>3600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FY25 Actual</c:v>
                </c:pt>
              </c:strCache>
            </c:strRef>
          </c:tx>
          <c:spPr>
            <a:solidFill>
              <a:srgbClr val="8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3400</c:v>
                </c:pt>
                <c:pt idx="1">
                  <c:v>3000</c:v>
                </c:pt>
                <c:pt idx="2">
                  <c:v>2400</c:v>
                </c:pt>
                <c:pt idx="3">
                  <c:v>3000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FY26 Forecast</c:v>
                </c:pt>
              </c:strCache>
            </c:strRef>
          </c:tx>
          <c:spPr>
            <a:solidFill>
              <a:srgbClr val="0077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5400</c:v>
                </c:pt>
                <c:pt idx="1">
                  <c:v>3300</c:v>
                </c:pt>
                <c:pt idx="2">
                  <c:v>4200</c:v>
                </c:pt>
                <c:pt idx="3">
                  <c:v>5400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 Actual</c:v>
                </c:pt>
              </c:strCache>
            </c:strRef>
          </c:tx>
          <c:spPr>
            <a:solidFill>
              <a:srgbClr val="808080"/>
            </a:solidFill>
            <a:ln w="31750" cap="flat">
              <a:solidFill>
                <a:srgbClr val="8080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08080"/>
              </a:solidFill>
              <a:ln w="9525" cap="flat">
                <a:solidFill>
                  <a:srgbClr val="808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600</c:v>
                </c:pt>
                <c:pt idx="1">
                  <c:v>1200</c:v>
                </c:pt>
                <c:pt idx="2">
                  <c:v>1600</c:v>
                </c:pt>
                <c:pt idx="3">
                  <c:v>0</c:v>
                </c:pt>
                <c:pt idx="4">
                  <c:v>1600</c:v>
                </c:pt>
                <c:pt idx="5">
                  <c:v>1400</c:v>
                </c:pt>
                <c:pt idx="6">
                  <c:v>1600</c:v>
                </c:pt>
                <c:pt idx="7">
                  <c:v>600</c:v>
                </c:pt>
                <c:pt idx="8">
                  <c:v>200</c:v>
                </c:pt>
                <c:pt idx="9">
                  <c:v>800</c:v>
                </c:pt>
                <c:pt idx="10">
                  <c:v>1800</c:v>
                </c:pt>
                <c:pt idx="11">
                  <c:v>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 Forecast</c:v>
                </c:pt>
              </c:strCache>
            </c:strRef>
          </c:tx>
          <c:spPr>
            <a:solidFill>
              <a:srgbClr val="0077C8"/>
            </a:solidFill>
            <a:ln w="31750" cap="flat">
              <a:solidFill>
                <a:srgbClr val="0077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77C8"/>
              </a:solidFill>
              <a:ln w="9525" cap="flat">
                <a:solidFill>
                  <a:srgbClr val="0077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900</c:v>
                </c:pt>
                <c:pt idx="1">
                  <c:v>2700</c:v>
                </c:pt>
                <c:pt idx="2">
                  <c:v>1800</c:v>
                </c:pt>
                <c:pt idx="3">
                  <c:v>600</c:v>
                </c:pt>
                <c:pt idx="4">
                  <c:v>1200</c:v>
                </c:pt>
                <c:pt idx="5">
                  <c:v>1500</c:v>
                </c:pt>
                <c:pt idx="6">
                  <c:v>1500</c:v>
                </c:pt>
                <c:pt idx="7">
                  <c:v>1800</c:v>
                </c:pt>
                <c:pt idx="8">
                  <c:v>900</c:v>
                </c:pt>
                <c:pt idx="9">
                  <c:v>300</c:v>
                </c:pt>
                <c:pt idx="10">
                  <c:v>3000</c:v>
                </c:pt>
                <c:pt idx="11">
                  <c:v>2100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 Pro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Forecast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 Corporation | FY24–FY27 Outlook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C9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 Pro forecast projects 55% revenue growth in FY26, moderating to -3% in FY27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 Corporation | Laptop Pro Sales Forecast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2377440" cy="2011680"/>
          </a:xfrm>
          <a:prstGeom prst="rect">
            <a:avLst>
              <a:gd name="adj" fmla="val 4545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828800"/>
            <a:ext cx="2377440" cy="73152"/>
          </a:xfrm>
          <a:prstGeom prst="rect">
            <a:avLst>
              <a:gd name="adj" fmla="val 50000"/>
            </a:avLst>
          </a:prstGeom>
          <a:solidFill>
            <a:srgbClr val="006B3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FY24 Actual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12.2K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828800"/>
            <a:ext cx="2377440" cy="2011680"/>
          </a:xfrm>
          <a:prstGeom prst="rect">
            <a:avLst>
              <a:gd name="adj" fmla="val 4545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828800"/>
            <a:ext cx="2377440" cy="73152"/>
          </a:xfrm>
          <a:prstGeom prst="rect">
            <a:avLst>
              <a:gd name="adj" fmla="val 50000"/>
            </a:avLst>
          </a:prstGeom>
          <a:solidFill>
            <a:srgbClr val="006B3F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FY25 Actual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11.8K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-3% YoY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377440" cy="2011680"/>
          </a:xfrm>
          <a:prstGeom prst="rect">
            <a:avLst>
              <a:gd name="adj" fmla="val 4545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828800"/>
            <a:ext cx="2377440" cy="73152"/>
          </a:xfrm>
          <a:prstGeom prst="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Forecast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6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18.3K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179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+55.1% YoY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1828800"/>
            <a:ext cx="2377440" cy="2011680"/>
          </a:xfrm>
          <a:prstGeom prst="rect">
            <a:avLst>
              <a:gd name="adj" fmla="val 4545"/>
            </a:avLst>
          </a:prstGeom>
          <a:solidFill>
            <a:srgbClr val="F2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9680" y="1828800"/>
            <a:ext cx="2377440" cy="73152"/>
          </a:xfrm>
          <a:prstGeom prst="rect">
            <a:avLst>
              <a:gd name="adj" fmla="val 50000"/>
            </a:avLst>
          </a:prstGeom>
          <a:solidFill>
            <a:srgbClr val="00A651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FY27 Forecast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968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6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17.7K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8696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-3.3% YoY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6B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driven by 1.5x uplift applied to FY25 historical baseline; FY27 moderates as market matures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sales trajectory shows strong recovery in FY26 forecast after flat FY25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 Corporation | Laptop Pro Sales Forecast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280160"/>
          <a:ext cx="106984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forecast shows strongest performance in Q1 and Q4, mirroring historical seasonality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 Corporation | Laptop Pro Sales Forecast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280160"/>
          <a:ext cx="106984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monthly forecast peaks in November at 3,000 units with Q4 driving year-end strength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 Corporation | Laptop Pro Sales Forecast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280160"/>
          <a:ext cx="106984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actions to capture the FY26 growth opportunity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B3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0"/>
            <a:ext cx="1069848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 Corporation | Laptop Pro Sales Forecast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6B3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production capacity for Q1 and Q4 peaks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83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FY26 projects 18.3K total units — a +55.1% increase over FY25. Seasonal peaks in Q1 (5,400) and Q4 (5,400) require supply chain readiness by October.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006B3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Investigate Q2 softness to protect downside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is consistently the weakest quarter across all years. Understanding root cause (seasonality vs. competitive dynamics) could unlock incremental upside.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006B3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FY27 portfolio refresh to offset moderation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FY27 forecast of 17.7K represents -3.3% YoY. A product refresh or pricing action may be needed to sustain growth momentum.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Laptop Pro Sales Forecast</dc:title>
  <dc:subject>PptxGenJS Presentation</dc:subject>
  <dc:creator>Acme Corporation</dc:creator>
  <cp:lastModifiedBy>Acme Corporation</cp:lastModifiedBy>
  <cp:revision>1</cp:revision>
  <dcterms:created xsi:type="dcterms:W3CDTF">2026-02-15T01:43:52Z</dcterms:created>
  <dcterms:modified xsi:type="dcterms:W3CDTF">2026-02-15T01:43:52Z</dcterms:modified>
</cp:coreProperties>
</file>