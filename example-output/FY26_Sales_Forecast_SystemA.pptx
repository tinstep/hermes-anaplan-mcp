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006B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D2D2D"/>
                    </a:solidFill>
                    <a:latin typeface="Trebuchet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FY24 (Actual)</c:v>
                  </c:pt>
                  <c:pt idx="1">
                    <c:v>FY25 (Actual)</c:v>
                  </c:pt>
                  <c:pt idx="2">
                    <c:v>FY26 (Forecast)</c:v>
                  </c:pt>
                  <c:pt idx="3">
                    <c:v>FY27 (Forecast)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12200</c:v>
                </c:pt>
                <c:pt idx="1">
                  <c:v>11800</c:v>
                </c:pt>
                <c:pt idx="2">
                  <c:v>18300</c:v>
                </c:pt>
                <c:pt idx="3">
                  <c:v>17700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D2D2D"/>
                  </a:solidFill>
                  <a:latin typeface="Trebuchet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2D2D"/>
                </a:solidFill>
                <a:latin typeface="Trebuchet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2D2D"/>
                </a:solidFill>
                <a:latin typeface="Trebuchet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</c:v>
                </c:pt>
              </c:strCache>
            </c:strRef>
          </c:tx>
          <c:spPr>
            <a:solidFill>
              <a:srgbClr val="C0C5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D2D2D"/>
                    </a:solidFill>
                    <a:latin typeface="Trebuchet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3600</c:v>
                </c:pt>
                <c:pt idx="1">
                  <c:v>2200</c:v>
                </c:pt>
                <c:pt idx="2">
                  <c:v>2800</c:v>
                </c:pt>
                <c:pt idx="3">
                  <c:v>3600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</c:v>
                </c:pt>
              </c:strCache>
            </c:strRef>
          </c:tx>
          <c:spPr>
            <a:solidFill>
              <a:srgbClr val="006B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D2D2D"/>
                    </a:solidFill>
                    <a:latin typeface="Trebuchet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3400</c:v>
                </c:pt>
                <c:pt idx="1">
                  <c:v>3000</c:v>
                </c:pt>
                <c:pt idx="2">
                  <c:v>2400</c:v>
                </c:pt>
                <c:pt idx="3">
                  <c:v>3000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(F)</c:v>
                </c:pt>
              </c:strCache>
            </c:strRef>
          </c:tx>
          <c:spPr>
            <a:solidFill>
              <a:srgbClr val="00A6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D2D2D"/>
                    </a:solidFill>
                    <a:latin typeface="Trebuchet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5400</c:v>
                </c:pt>
                <c:pt idx="1">
                  <c:v>3300</c:v>
                </c:pt>
                <c:pt idx="2">
                  <c:v>4200</c:v>
                </c:pt>
                <c:pt idx="3">
                  <c:v>5400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FY27 (F)</c:v>
                </c:pt>
              </c:strCache>
            </c:strRef>
          </c:tx>
          <c:spPr>
            <a:solidFill>
              <a:srgbClr val="0077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D2D2D"/>
                    </a:solidFill>
                    <a:latin typeface="Trebuchet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5100</c:v>
                </c:pt>
                <c:pt idx="1">
                  <c:v>4500</c:v>
                </c:pt>
                <c:pt idx="2">
                  <c:v>3600</c:v>
                </c:pt>
                <c:pt idx="3">
                  <c:v>4500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D2D2D"/>
                  </a:solidFill>
                  <a:latin typeface="Trebuchet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2D2D"/>
                </a:solidFill>
                <a:latin typeface="Trebuchet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2D2D"/>
                </a:solidFill>
                <a:latin typeface="Trebuchet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D2D2D"/>
              </a:solidFill>
              <a:latin typeface="Trebuchet MS"/>
              <a:cs typeface="Trebuchet M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 (Actual)</c:v>
                </c:pt>
              </c:strCache>
            </c:strRef>
          </c:tx>
          <c:spPr>
            <a:solidFill>
              <a:srgbClr val="C0C5C9"/>
            </a:solidFill>
            <a:ln w="19050" cap="flat">
              <a:solidFill>
                <a:srgbClr val="C0C5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D2D2D"/>
                    </a:solidFill>
                    <a:latin typeface="Trebuchet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C0C5C9"/>
              </a:solidFill>
              <a:ln w="9525" cap="flat">
                <a:solidFill>
                  <a:srgbClr val="C0C5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600</c:v>
                </c:pt>
                <c:pt idx="1">
                  <c:v>1800</c:v>
                </c:pt>
                <c:pt idx="2">
                  <c:v>1200</c:v>
                </c:pt>
                <c:pt idx="3">
                  <c:v>400</c:v>
                </c:pt>
                <c:pt idx="4">
                  <c:v>800</c:v>
                </c:pt>
                <c:pt idx="5">
                  <c:v>1000</c:v>
                </c:pt>
                <c:pt idx="6">
                  <c:v>1000</c:v>
                </c:pt>
                <c:pt idx="7">
                  <c:v>1200</c:v>
                </c:pt>
                <c:pt idx="8">
                  <c:v>600</c:v>
                </c:pt>
                <c:pt idx="9">
                  <c:v>200</c:v>
                </c:pt>
                <c:pt idx="10">
                  <c:v>2000</c:v>
                </c:pt>
                <c:pt idx="11">
                  <c:v>1400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 (Actual)</c:v>
                </c:pt>
              </c:strCache>
            </c:strRef>
          </c:tx>
          <c:spPr>
            <a:solidFill>
              <a:srgbClr val="006B3F"/>
            </a:solidFill>
            <a:ln w="19050" cap="flat">
              <a:solidFill>
                <a:srgbClr val="006B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D2D2D"/>
                    </a:solidFill>
                    <a:latin typeface="Trebuchet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006B3F"/>
              </a:solidFill>
              <a:ln w="9525" cap="flat">
                <a:solidFill>
                  <a:srgbClr val="006B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600</c:v>
                </c:pt>
                <c:pt idx="1">
                  <c:v>1200</c:v>
                </c:pt>
                <c:pt idx="2">
                  <c:v>1600</c:v>
                </c:pt>
                <c:pt idx="3">
                  <c:v>0</c:v>
                </c:pt>
                <c:pt idx="4">
                  <c:v>1600</c:v>
                </c:pt>
                <c:pt idx="5">
                  <c:v>1400</c:v>
                </c:pt>
                <c:pt idx="6">
                  <c:v>1600</c:v>
                </c:pt>
                <c:pt idx="7">
                  <c:v>600</c:v>
                </c:pt>
                <c:pt idx="8">
                  <c:v>200</c:v>
                </c:pt>
                <c:pt idx="9">
                  <c:v>800</c:v>
                </c:pt>
                <c:pt idx="10">
                  <c:v>1800</c:v>
                </c:pt>
                <c:pt idx="11">
                  <c:v>400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(Forecast)</c:v>
                </c:pt>
              </c:strCache>
            </c:strRef>
          </c:tx>
          <c:spPr>
            <a:solidFill>
              <a:srgbClr val="00A651"/>
            </a:solidFill>
            <a:ln w="19050" cap="flat">
              <a:solidFill>
                <a:srgbClr val="00A65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D2D2D"/>
                    </a:solidFill>
                    <a:latin typeface="Trebuchet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00A651"/>
              </a:solidFill>
              <a:ln w="9525" cap="flat">
                <a:solidFill>
                  <a:srgbClr val="00A65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900</c:v>
                </c:pt>
                <c:pt idx="1">
                  <c:v>2700</c:v>
                </c:pt>
                <c:pt idx="2">
                  <c:v>1800</c:v>
                </c:pt>
                <c:pt idx="3">
                  <c:v>600</c:v>
                </c:pt>
                <c:pt idx="4">
                  <c:v>1200</c:v>
                </c:pt>
                <c:pt idx="5">
                  <c:v>1500</c:v>
                </c:pt>
                <c:pt idx="6">
                  <c:v>1500</c:v>
                </c:pt>
                <c:pt idx="7">
                  <c:v>1800</c:v>
                </c:pt>
                <c:pt idx="8">
                  <c:v>900</c:v>
                </c:pt>
                <c:pt idx="9">
                  <c:v>300</c:v>
                </c:pt>
                <c:pt idx="10">
                  <c:v>3000</c:v>
                </c:pt>
                <c:pt idx="11">
                  <c:v>2100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D2D2D"/>
                  </a:solidFill>
                  <a:latin typeface="Trebuchet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2D2D"/>
                </a:solidFill>
                <a:latin typeface="Trebuchet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2D2D"/>
                </a:solidFill>
                <a:latin typeface="Trebuchet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D2D2D"/>
              </a:solidFill>
              <a:latin typeface="Trebuchet MS"/>
              <a:cs typeface="Trebuchet M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28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FY26 Sales Forecast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Laptop Pro  |  Acme Corporation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3657600"/>
            <a:ext cx="36576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9319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&amp; Planning Team Review  |  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Laptop Pro forecast projects 18,300 units in FY26, a 55% increase over FY25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474720" cy="2743200"/>
          </a:xfrm>
          <a:prstGeom prst="rect">
            <a:avLst>
              <a:gd name="adj" fmla="val 333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FY25 Actual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11,800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-3.3% vs FY24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58488" y="1371600"/>
            <a:ext cx="3474720" cy="2743200"/>
          </a:xfrm>
          <a:prstGeom prst="rect">
            <a:avLst>
              <a:gd name="adj" fmla="val 333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58488" y="1371600"/>
            <a:ext cx="3474720" cy="54864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2" name="Text 10"/>
          <p:cNvSpPr/>
          <p:nvPr/>
        </p:nvSpPr>
        <p:spPr>
          <a:xfrm>
            <a:off x="4632808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FY26 Forecast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32808" y="1920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18,300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632808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units projected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32808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6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+55.1% vs FY25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59775" y="1371600"/>
            <a:ext cx="3474720" cy="2743200"/>
          </a:xfrm>
          <a:prstGeom prst="rect">
            <a:avLst>
              <a:gd name="adj" fmla="val 333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59775" y="1371600"/>
            <a:ext cx="3474720" cy="54864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18" name="Text 16"/>
          <p:cNvSpPr/>
          <p:nvPr/>
        </p:nvSpPr>
        <p:spPr>
          <a:xfrm>
            <a:off x="8534095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FY27 Outlook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34095" y="1920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17,700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534095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units projected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34095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-3.3% vs FY26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1.5x growth multiplier applied to FY24 actuals produces a strong FY26 forecast, but FY25's slight decline signals potential seasonality risk that warrants monitoring.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FY26 represents the strongest projected year for Laptop Pro at Acme Corporation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sales trajectory shows 55% growth from FY25 to FY26 forecast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006B3F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74980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42655" y="1371600"/>
            <a:ext cx="3291840" cy="4526280"/>
          </a:xfrm>
          <a:prstGeom prst="rect">
            <a:avLst>
              <a:gd name="adj" fmla="val 277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42655" y="1371600"/>
            <a:ext cx="54864" cy="4526280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7" name="Text 4"/>
          <p:cNvSpPr/>
          <p:nvPr/>
        </p:nvSpPr>
        <p:spPr>
          <a:xfrm>
            <a:off x="8716975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Analysis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716975" y="21031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FY24 → FY25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716975" y="2331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-3.3%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716975" y="2606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Slight decline in historical sales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716975" y="305181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FY25 → FY26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716975" y="328041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6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+55.1%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716975" y="355473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 growth from 1.5x multiplier on FY24 base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16975" y="40005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FY26 → FY27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716975" y="42291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-3.3%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716975" y="45034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Mirrors FY24-FY25 decline pattern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716975" y="494919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Peak Quarter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716975" y="517779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716975" y="545211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Consistently strongest quarter across all years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Shape 18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 methodology applies a 1.5x multiplier to FY24 actuals, producing consistent seasonal patterns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Anaplan - Sales Forecast Module (Historical Sales, Forecast line items)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and Q4 consistently deliver strongest quarterly performance across all years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006B3F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11277295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spike driven by November sales — highest single month across all years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forecast pattern amplifies FY24 seasonality with consistent 1.5x growth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006B3F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11277295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November is the peak month: 2,000 (FY24), 1,800 (FY25), 3,000 (FY26 forecast)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forecast methods provide complementary views of expected demand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1277295" cy="1188720"/>
          </a:xfrm>
          <a:prstGeom prst="rect">
            <a:avLst>
              <a:gd name="adj" fmla="val 6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188720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 (Primary)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Historical Sales (t-24) × 1.5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Applies a 50% growth multiplier to sales from two years prior.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0" y="1508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18,300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418320" y="2057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11277295" cy="1188720"/>
          </a:xfrm>
          <a:prstGeom prst="rect">
            <a:avLst>
              <a:gd name="adj" fmla="val 6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97480"/>
            <a:ext cx="73152" cy="1188720"/>
          </a:xfrm>
          <a:prstGeom prst="rect">
            <a:avLst/>
          </a:prstGeom>
          <a:solidFill>
            <a:srgbClr val="0077C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 — Previous Year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063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Historical Sales (t-12)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Uses prior year actuals as baseline forecast. Conservative approach.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18320" y="2834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7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11,800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418320" y="33832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1277295" cy="1188720"/>
          </a:xfrm>
          <a:prstGeom prst="rect">
            <a:avLst>
              <a:gd name="adj" fmla="val 6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023360"/>
            <a:ext cx="73152" cy="1188720"/>
          </a:xfrm>
          <a:prstGeom prst="rect">
            <a:avLst/>
          </a:prstGeom>
          <a:solidFill>
            <a:srgbClr val="80808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 — Mean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Historical Sales / 12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average of annual historical sales. Smooths seasonality.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18320" y="4160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983/mo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418320" y="4709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forecast method selected for planning: 1.5x growth multiplier on FY24 historical baseline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Anaplan - Sales Forecast Module (formula definitions)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FY26 monthly forecast ranges from 300 to 3,000 units with high seasonality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006B3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729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Jan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Feb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Mar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Apr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May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Jun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Jul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Aug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Sep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Oct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Nov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Dec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Total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FY24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1,800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1,200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1,000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1,000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1,200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2,000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1,400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12,200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FY25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1,200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1,600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1,600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1,400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1,600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1,800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11,800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FY26 (F)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900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2,700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1,800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1,200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1,500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1,500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1,800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900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3,000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2,100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18,300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FY27 (F)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900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1,800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2,400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2,400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2,100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2,400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900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1,200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2,700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17,700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i="1" dirty="0">
                          <a:solidFill>
                            <a:srgbClr val="006B3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FY26 YoY 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A65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50%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A65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125%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A65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13%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0808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N/A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E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-25%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A65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E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-6%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A65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200%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A65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350%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E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-62%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A65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67%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A65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425%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0A65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+55%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November consistently the peak month: FY26 forecast of 3,000 units represents 16% of annual volume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risks and five actions to secure FY26 forecast delivery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Risks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754880" cy="960120"/>
          </a:xfrm>
          <a:prstGeom prst="rect">
            <a:avLst>
              <a:gd name="adj" fmla="val 7619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20240"/>
            <a:ext cx="54864" cy="960120"/>
          </a:xfrm>
          <a:prstGeom prst="rect">
            <a:avLst/>
          </a:prstGeom>
          <a:solidFill>
            <a:srgbClr val="E0404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933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Seasonality Concentration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304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57% of FY26 volume falls in Q1 and Q4, creating supply chain pressure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4754880" cy="960120"/>
          </a:xfrm>
          <a:prstGeom prst="rect">
            <a:avLst>
              <a:gd name="adj" fmla="val 7619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063240"/>
            <a:ext cx="54864" cy="960120"/>
          </a:xfrm>
          <a:prstGeom prst="rect">
            <a:avLst/>
          </a:prstGeom>
          <a:solidFill>
            <a:srgbClr val="E0404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1363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FY25 Decline Signal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447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FY25 declined 3.3% vs FY24 — organic demand may not support 1.5x growth assumption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4754880" cy="960120"/>
          </a:xfrm>
          <a:prstGeom prst="rect">
            <a:avLst>
              <a:gd name="adj" fmla="val 7619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206240"/>
            <a:ext cx="54864" cy="960120"/>
          </a:xfrm>
          <a:prstGeom prst="rect">
            <a:avLst/>
          </a:prstGeom>
          <a:solidFill>
            <a:srgbClr val="E0404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2793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Zero-Month Vulnerability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590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April shows zero historical sales in FY25, creating forecast uncertainty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1463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Actions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920240"/>
          <a:ext cx="52120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28600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#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Action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Owner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Target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Validate FY26 demand plan with sales team input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Sales Director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Mar 2026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Build safety stock for Q4 peak demand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Supply Chain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Sep 2026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Investigate April zero-sales anomaly in FY25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Analytics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Mar 2026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Set up monthly forecast vs. actual tracking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Finance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Mar 2026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Prepare downside scenario at 1.2x multiplier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Planning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Mar 2026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Immediate priority: validate demand assumptions with sales team before Q1 close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FY26 Sales Forecast - Design System A</dc:title>
  <dc:subject>PptxGenJS Presentation</dc:subject>
  <dc:creator>Acme Corporation</dc:creator>
  <cp:lastModifiedBy>Acme Corporation</cp:lastModifiedBy>
  <cp:revision>1</cp:revision>
  <dcterms:created xsi:type="dcterms:W3CDTF">2026-02-15T05:24:07Z</dcterms:created>
  <dcterms:modified xsi:type="dcterms:W3CDTF">2026-02-15T05:24:07Z</dcterms:modified>
</cp:coreProperties>
</file>