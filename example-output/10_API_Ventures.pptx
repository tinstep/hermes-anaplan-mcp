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1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128" d="100"/>
          <a:sy n="128" d="100"/>
        </p:scale>
        <p:origin x="480" y="17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91281224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1645920"/>
            <a:ext cx="10362895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400" b="1" dirty="0">
                <a:solidFill>
                  <a:srgbClr val="FFFF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10 Business Opportunities</a:t>
            </a:r>
            <a:endParaRPr lang="en-US" sz="4400" dirty="0"/>
          </a:p>
        </p:txBody>
      </p:sp>
      <p:sp>
        <p:nvSpPr>
          <p:cNvPr id="3" name="Text 1"/>
          <p:cNvSpPr/>
          <p:nvPr/>
        </p:nvSpPr>
        <p:spPr>
          <a:xfrm>
            <a:off x="914400" y="2651760"/>
            <a:ext cx="10362895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dirty="0">
                <a:solidFill>
                  <a:srgbClr val="86BC25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Powered by Open-Source APIs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914400" y="3474720"/>
            <a:ext cx="3657600" cy="27432"/>
          </a:xfrm>
          <a:prstGeom prst="rect">
            <a:avLst/>
          </a:prstGeom>
          <a:solidFill>
            <a:srgbClr val="97999B"/>
          </a:solidFill>
          <a:ln/>
        </p:spPr>
      </p:sp>
      <p:sp>
        <p:nvSpPr>
          <p:cNvPr id="5" name="Text 3"/>
          <p:cNvSpPr/>
          <p:nvPr/>
        </p:nvSpPr>
        <p:spPr>
          <a:xfrm>
            <a:off x="914400" y="3749040"/>
            <a:ext cx="10362895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97999B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Zero licensing cost  |  Production-ready APIs  |  Real revenue potential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914400" y="4297680"/>
            <a:ext cx="10362895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97999B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February 2026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11277295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333333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The open API economy enables high-value products with zero licensing cost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457200" y="1234440"/>
            <a:ext cx="11277295" cy="27432"/>
          </a:xfrm>
          <a:prstGeom prst="rect">
            <a:avLst/>
          </a:prstGeom>
          <a:solidFill>
            <a:srgbClr val="333333"/>
          </a:solidFill>
          <a:ln/>
        </p:spPr>
      </p:sp>
      <p:sp>
        <p:nvSpPr>
          <p:cNvPr id="4" name="Shape 2"/>
          <p:cNvSpPr/>
          <p:nvPr/>
        </p:nvSpPr>
        <p:spPr>
          <a:xfrm>
            <a:off x="457200" y="1371600"/>
            <a:ext cx="3474720" cy="2194560"/>
          </a:xfrm>
          <a:prstGeom prst="rect">
            <a:avLst/>
          </a:prstGeom>
          <a:solidFill>
            <a:srgbClr val="F5F5F5"/>
          </a:solidFill>
          <a:ln/>
          <a:effectLst>
            <a:outerShdw blurRad="762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457200" y="1371600"/>
            <a:ext cx="3474720" cy="54864"/>
          </a:xfrm>
          <a:prstGeom prst="rect">
            <a:avLst/>
          </a:prstGeom>
          <a:solidFill>
            <a:srgbClr val="97999B"/>
          </a:solidFill>
          <a:ln/>
        </p:spPr>
      </p:sp>
      <p:sp>
        <p:nvSpPr>
          <p:cNvPr id="6" name="Text 4"/>
          <p:cNvSpPr/>
          <p:nvPr/>
        </p:nvSpPr>
        <p:spPr>
          <a:xfrm>
            <a:off x="731520" y="1554480"/>
            <a:ext cx="2926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97999B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10 Ventures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731520" y="1828800"/>
            <a:ext cx="2926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400" b="1" dirty="0">
                <a:solidFill>
                  <a:srgbClr val="333333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10</a:t>
            </a:r>
            <a:endParaRPr lang="en-US" sz="4400" dirty="0"/>
          </a:p>
        </p:txBody>
      </p:sp>
      <p:sp>
        <p:nvSpPr>
          <p:cNvPr id="8" name="Text 6"/>
          <p:cNvSpPr/>
          <p:nvPr/>
        </p:nvSpPr>
        <p:spPr>
          <a:xfrm>
            <a:off x="731520" y="2468880"/>
            <a:ext cx="2926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97999B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curated ideas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731520" y="2834640"/>
            <a:ext cx="2926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86BC25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Spanning intel, civic, security, culture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4358488" y="1371600"/>
            <a:ext cx="3474720" cy="2194560"/>
          </a:xfrm>
          <a:prstGeom prst="rect">
            <a:avLst/>
          </a:prstGeom>
          <a:solidFill>
            <a:srgbClr val="F5F5F5"/>
          </a:solidFill>
          <a:ln/>
          <a:effectLst>
            <a:outerShdw blurRad="762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4358488" y="1371600"/>
            <a:ext cx="3474720" cy="54864"/>
          </a:xfrm>
          <a:prstGeom prst="rect">
            <a:avLst/>
          </a:prstGeom>
          <a:solidFill>
            <a:srgbClr val="97999B"/>
          </a:solidFill>
          <a:ln/>
        </p:spPr>
      </p:sp>
      <p:sp>
        <p:nvSpPr>
          <p:cNvPr id="12" name="Text 10"/>
          <p:cNvSpPr/>
          <p:nvPr/>
        </p:nvSpPr>
        <p:spPr>
          <a:xfrm>
            <a:off x="4632808" y="1554480"/>
            <a:ext cx="2926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97999B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APIs Used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4632808" y="1828800"/>
            <a:ext cx="2926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400" b="1" dirty="0">
                <a:solidFill>
                  <a:srgbClr val="333333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10+</a:t>
            </a:r>
            <a:endParaRPr lang="en-US" sz="4400" dirty="0"/>
          </a:p>
        </p:txBody>
      </p:sp>
      <p:sp>
        <p:nvSpPr>
          <p:cNvPr id="14" name="Text 12"/>
          <p:cNvSpPr/>
          <p:nvPr/>
        </p:nvSpPr>
        <p:spPr>
          <a:xfrm>
            <a:off x="4632808" y="2468880"/>
            <a:ext cx="2926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97999B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open-source APIs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4632808" y="2834640"/>
            <a:ext cx="2926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86BC25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All free or freemium, production-grade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8259775" y="1371600"/>
            <a:ext cx="3474720" cy="2194560"/>
          </a:xfrm>
          <a:prstGeom prst="rect">
            <a:avLst/>
          </a:prstGeom>
          <a:solidFill>
            <a:srgbClr val="F5F5F5"/>
          </a:solidFill>
          <a:ln/>
          <a:effectLst>
            <a:outerShdw blurRad="762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8259775" y="1371600"/>
            <a:ext cx="3474720" cy="54864"/>
          </a:xfrm>
          <a:prstGeom prst="rect">
            <a:avLst/>
          </a:prstGeom>
          <a:solidFill>
            <a:srgbClr val="97999B"/>
          </a:solidFill>
          <a:ln/>
        </p:spPr>
      </p:sp>
      <p:sp>
        <p:nvSpPr>
          <p:cNvPr id="18" name="Text 16"/>
          <p:cNvSpPr/>
          <p:nvPr/>
        </p:nvSpPr>
        <p:spPr>
          <a:xfrm>
            <a:off x="8534095" y="1554480"/>
            <a:ext cx="2926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97999B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Revenue Models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8534095" y="1828800"/>
            <a:ext cx="2926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400" b="1" dirty="0">
                <a:solidFill>
                  <a:srgbClr val="333333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6</a:t>
            </a:r>
            <a:endParaRPr lang="en-US" sz="4400" dirty="0"/>
          </a:p>
        </p:txBody>
      </p:sp>
      <p:sp>
        <p:nvSpPr>
          <p:cNvPr id="20" name="Text 18"/>
          <p:cNvSpPr/>
          <p:nvPr/>
        </p:nvSpPr>
        <p:spPr>
          <a:xfrm>
            <a:off x="8534095" y="2468880"/>
            <a:ext cx="2926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97999B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distinct models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8534095" y="2834640"/>
            <a:ext cx="2926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86BC25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SaaS, B2G, licensing, content, tools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457200" y="4114800"/>
            <a:ext cx="11277295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86BC25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Key Insight: </a:t>
            </a:r>
            <a:r>
              <a:rPr lang="en-US" sz="1200" dirty="0">
                <a:solidFill>
                  <a:srgbClr val="333333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Open APIs remove the biggest barrier to product development — data acquisition cost. These 10 ideas exploit freely available, well-maintained APIs to build products with genuine commercial potential across intelligence, compliance, culture, and security.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457200" y="5989320"/>
            <a:ext cx="11277295" cy="411480"/>
          </a:xfrm>
          <a:prstGeom prst="rect">
            <a:avLst/>
          </a:prstGeom>
          <a:solidFill>
            <a:srgbClr val="F5F5F5"/>
          </a:solidFill>
          <a:ln/>
        </p:spPr>
      </p:sp>
      <p:sp>
        <p:nvSpPr>
          <p:cNvPr id="24" name="Shape 22"/>
          <p:cNvSpPr/>
          <p:nvPr/>
        </p:nvSpPr>
        <p:spPr>
          <a:xfrm>
            <a:off x="457200" y="5989320"/>
            <a:ext cx="73152" cy="411480"/>
          </a:xfrm>
          <a:prstGeom prst="rect">
            <a:avLst/>
          </a:prstGeom>
          <a:solidFill>
            <a:srgbClr val="97999B"/>
          </a:solidFill>
          <a:ln/>
        </p:spPr>
      </p:sp>
      <p:sp>
        <p:nvSpPr>
          <p:cNvPr id="25" name="Text 23"/>
          <p:cNvSpPr/>
          <p:nvPr/>
        </p:nvSpPr>
        <p:spPr>
          <a:xfrm>
            <a:off x="640080" y="6080760"/>
            <a:ext cx="11094415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333333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Every idea uses a free, production-grade API — the moat comes from the product layer, not data access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457200" y="649224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7999B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Source: Public API documentation review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11277295" y="649224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7999B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11277295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333333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Ten ventures spanning intelligence, safety, culture, security, and discovery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457200" y="1234440"/>
            <a:ext cx="11277295" cy="27432"/>
          </a:xfrm>
          <a:prstGeom prst="rect">
            <a:avLst/>
          </a:prstGeom>
          <a:solidFill>
            <a:srgbClr val="333333"/>
          </a:solidFill>
          <a:ln/>
        </p:spPr>
      </p:sp>
      <p:sp>
        <p:nvSpPr>
          <p:cNvPr id="4" name="Shape 2"/>
          <p:cNvSpPr/>
          <p:nvPr/>
        </p:nvSpPr>
        <p:spPr>
          <a:xfrm>
            <a:off x="457200" y="1371600"/>
            <a:ext cx="5394960" cy="804672"/>
          </a:xfrm>
          <a:prstGeom prst="rect">
            <a:avLst/>
          </a:prstGeom>
          <a:solidFill>
            <a:srgbClr val="F5F5F5"/>
          </a:solidFill>
          <a:ln/>
        </p:spPr>
      </p:sp>
      <p:sp>
        <p:nvSpPr>
          <p:cNvPr id="5" name="Shape 3"/>
          <p:cNvSpPr/>
          <p:nvPr/>
        </p:nvSpPr>
        <p:spPr>
          <a:xfrm>
            <a:off x="457200" y="1371600"/>
            <a:ext cx="54864" cy="804672"/>
          </a:xfrm>
          <a:prstGeom prst="rect">
            <a:avLst/>
          </a:prstGeom>
          <a:solidFill>
            <a:srgbClr val="97999B"/>
          </a:solidFill>
          <a:ln/>
        </p:spPr>
      </p:sp>
      <p:sp>
        <p:nvSpPr>
          <p:cNvPr id="6" name="Shape 4"/>
          <p:cNvSpPr/>
          <p:nvPr/>
        </p:nvSpPr>
        <p:spPr>
          <a:xfrm>
            <a:off x="640080" y="1508760"/>
            <a:ext cx="411480" cy="411480"/>
          </a:xfrm>
          <a:prstGeom prst="rect">
            <a:avLst/>
          </a:prstGeom>
          <a:solidFill>
            <a:srgbClr val="86BC25"/>
          </a:solidFill>
          <a:ln/>
        </p:spPr>
      </p:sp>
      <p:sp>
        <p:nvSpPr>
          <p:cNvPr id="7" name="Text 5"/>
          <p:cNvSpPr/>
          <p:nvPr/>
        </p:nvSpPr>
        <p:spPr>
          <a:xfrm>
            <a:off x="640080" y="1508760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1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1188720" y="1444752"/>
            <a:ext cx="3749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333333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Website Time-Lapse Detective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1188720" y="1755648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86BC25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Intelligence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3291840" y="1755648"/>
            <a:ext cx="2377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7999B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Wayback CDX API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457200" y="2286000"/>
            <a:ext cx="5394960" cy="804672"/>
          </a:xfrm>
          <a:prstGeom prst="rect">
            <a:avLst/>
          </a:prstGeom>
          <a:solidFill>
            <a:srgbClr val="F5F5F5"/>
          </a:solidFill>
          <a:ln/>
        </p:spPr>
      </p:sp>
      <p:sp>
        <p:nvSpPr>
          <p:cNvPr id="12" name="Shape 10"/>
          <p:cNvSpPr/>
          <p:nvPr/>
        </p:nvSpPr>
        <p:spPr>
          <a:xfrm>
            <a:off x="457200" y="2286000"/>
            <a:ext cx="54864" cy="804672"/>
          </a:xfrm>
          <a:prstGeom prst="rect">
            <a:avLst/>
          </a:prstGeom>
          <a:solidFill>
            <a:srgbClr val="97999B"/>
          </a:solidFill>
          <a:ln/>
        </p:spPr>
      </p:sp>
      <p:sp>
        <p:nvSpPr>
          <p:cNvPr id="13" name="Shape 11"/>
          <p:cNvSpPr/>
          <p:nvPr/>
        </p:nvSpPr>
        <p:spPr>
          <a:xfrm>
            <a:off x="640080" y="2423160"/>
            <a:ext cx="411480" cy="411480"/>
          </a:xfrm>
          <a:prstGeom prst="rect">
            <a:avLst/>
          </a:prstGeom>
          <a:solidFill>
            <a:srgbClr val="86BC25"/>
          </a:solidFill>
          <a:ln/>
        </p:spPr>
      </p:sp>
      <p:sp>
        <p:nvSpPr>
          <p:cNvPr id="14" name="Text 12"/>
          <p:cNvSpPr/>
          <p:nvPr/>
        </p:nvSpPr>
        <p:spPr>
          <a:xfrm>
            <a:off x="640080" y="2423160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2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1188720" y="2359152"/>
            <a:ext cx="3749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333333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Invisible City Atlas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1188720" y="2670048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86BC25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Civic Tech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3291840" y="2670048"/>
            <a:ext cx="2377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7999B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Overpass API (OSM)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457200" y="3200400"/>
            <a:ext cx="5394960" cy="804672"/>
          </a:xfrm>
          <a:prstGeom prst="rect">
            <a:avLst/>
          </a:prstGeom>
          <a:solidFill>
            <a:srgbClr val="F5F5F5"/>
          </a:solidFill>
          <a:ln/>
        </p:spPr>
      </p:sp>
      <p:sp>
        <p:nvSpPr>
          <p:cNvPr id="19" name="Shape 17"/>
          <p:cNvSpPr/>
          <p:nvPr/>
        </p:nvSpPr>
        <p:spPr>
          <a:xfrm>
            <a:off x="457200" y="3200400"/>
            <a:ext cx="54864" cy="804672"/>
          </a:xfrm>
          <a:prstGeom prst="rect">
            <a:avLst/>
          </a:prstGeom>
          <a:solidFill>
            <a:srgbClr val="97999B"/>
          </a:solidFill>
          <a:ln/>
        </p:spPr>
      </p:sp>
      <p:sp>
        <p:nvSpPr>
          <p:cNvPr id="20" name="Shape 18"/>
          <p:cNvSpPr/>
          <p:nvPr/>
        </p:nvSpPr>
        <p:spPr>
          <a:xfrm>
            <a:off x="640080" y="3337560"/>
            <a:ext cx="411480" cy="411480"/>
          </a:xfrm>
          <a:prstGeom prst="rect">
            <a:avLst/>
          </a:prstGeom>
          <a:solidFill>
            <a:srgbClr val="86BC25"/>
          </a:solidFill>
          <a:ln/>
        </p:spPr>
      </p:sp>
      <p:sp>
        <p:nvSpPr>
          <p:cNvPr id="21" name="Text 19"/>
          <p:cNvSpPr/>
          <p:nvPr/>
        </p:nvSpPr>
        <p:spPr>
          <a:xfrm>
            <a:off x="640080" y="3337560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3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1188720" y="3273552"/>
            <a:ext cx="3749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333333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Regulation Diff Bot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1188720" y="3584448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86BC25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Compliance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3291840" y="3584448"/>
            <a:ext cx="2377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7999B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Federal Register API</a:t>
            </a:r>
            <a:endParaRPr lang="en-US" sz="900" dirty="0"/>
          </a:p>
        </p:txBody>
      </p:sp>
      <p:sp>
        <p:nvSpPr>
          <p:cNvPr id="25" name="Shape 23"/>
          <p:cNvSpPr/>
          <p:nvPr/>
        </p:nvSpPr>
        <p:spPr>
          <a:xfrm>
            <a:off x="457200" y="4114800"/>
            <a:ext cx="5394960" cy="804672"/>
          </a:xfrm>
          <a:prstGeom prst="rect">
            <a:avLst/>
          </a:prstGeom>
          <a:solidFill>
            <a:srgbClr val="F5F5F5"/>
          </a:solidFill>
          <a:ln/>
        </p:spPr>
      </p:sp>
      <p:sp>
        <p:nvSpPr>
          <p:cNvPr id="26" name="Shape 24"/>
          <p:cNvSpPr/>
          <p:nvPr/>
        </p:nvSpPr>
        <p:spPr>
          <a:xfrm>
            <a:off x="457200" y="4114800"/>
            <a:ext cx="54864" cy="804672"/>
          </a:xfrm>
          <a:prstGeom prst="rect">
            <a:avLst/>
          </a:prstGeom>
          <a:solidFill>
            <a:srgbClr val="97999B"/>
          </a:solidFill>
          <a:ln/>
        </p:spPr>
      </p:sp>
      <p:sp>
        <p:nvSpPr>
          <p:cNvPr id="27" name="Shape 25"/>
          <p:cNvSpPr/>
          <p:nvPr/>
        </p:nvSpPr>
        <p:spPr>
          <a:xfrm>
            <a:off x="640080" y="4251960"/>
            <a:ext cx="411480" cy="411480"/>
          </a:xfrm>
          <a:prstGeom prst="rect">
            <a:avLst/>
          </a:prstGeom>
          <a:solidFill>
            <a:srgbClr val="86BC25"/>
          </a:solidFill>
          <a:ln/>
        </p:spPr>
      </p:sp>
      <p:sp>
        <p:nvSpPr>
          <p:cNvPr id="28" name="Text 26"/>
          <p:cNvSpPr/>
          <p:nvPr/>
        </p:nvSpPr>
        <p:spPr>
          <a:xfrm>
            <a:off x="640080" y="4251960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4</a:t>
            </a:r>
            <a:endParaRPr lang="en-US" sz="1600" dirty="0"/>
          </a:p>
        </p:txBody>
      </p:sp>
      <p:sp>
        <p:nvSpPr>
          <p:cNvPr id="29" name="Text 27"/>
          <p:cNvSpPr/>
          <p:nvPr/>
        </p:nvSpPr>
        <p:spPr>
          <a:xfrm>
            <a:off x="1188720" y="4187952"/>
            <a:ext cx="3749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333333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Wikipedia Attention Weather</a:t>
            </a:r>
            <a:endParaRPr lang="en-US" sz="1300" dirty="0"/>
          </a:p>
        </p:txBody>
      </p:sp>
      <p:sp>
        <p:nvSpPr>
          <p:cNvPr id="30" name="Text 28"/>
          <p:cNvSpPr/>
          <p:nvPr/>
        </p:nvSpPr>
        <p:spPr>
          <a:xfrm>
            <a:off x="1188720" y="4498848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86BC25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Media Intel</a:t>
            </a:r>
            <a:endParaRPr lang="en-US" sz="1000" dirty="0"/>
          </a:p>
        </p:txBody>
      </p:sp>
      <p:sp>
        <p:nvSpPr>
          <p:cNvPr id="31" name="Text 29"/>
          <p:cNvSpPr/>
          <p:nvPr/>
        </p:nvSpPr>
        <p:spPr>
          <a:xfrm>
            <a:off x="3291840" y="4498848"/>
            <a:ext cx="2377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7999B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Wikimedia Pageviews API</a:t>
            </a:r>
            <a:endParaRPr lang="en-US" sz="900" dirty="0"/>
          </a:p>
        </p:txBody>
      </p:sp>
      <p:sp>
        <p:nvSpPr>
          <p:cNvPr id="32" name="Shape 30"/>
          <p:cNvSpPr/>
          <p:nvPr/>
        </p:nvSpPr>
        <p:spPr>
          <a:xfrm>
            <a:off x="457200" y="5029200"/>
            <a:ext cx="5394960" cy="804672"/>
          </a:xfrm>
          <a:prstGeom prst="rect">
            <a:avLst/>
          </a:prstGeom>
          <a:solidFill>
            <a:srgbClr val="F5F5F5"/>
          </a:solidFill>
          <a:ln/>
        </p:spPr>
      </p:sp>
      <p:sp>
        <p:nvSpPr>
          <p:cNvPr id="33" name="Shape 31"/>
          <p:cNvSpPr/>
          <p:nvPr/>
        </p:nvSpPr>
        <p:spPr>
          <a:xfrm>
            <a:off x="457200" y="5029200"/>
            <a:ext cx="54864" cy="804672"/>
          </a:xfrm>
          <a:prstGeom prst="rect">
            <a:avLst/>
          </a:prstGeom>
          <a:solidFill>
            <a:srgbClr val="97999B"/>
          </a:solidFill>
          <a:ln/>
        </p:spPr>
      </p:sp>
      <p:sp>
        <p:nvSpPr>
          <p:cNvPr id="34" name="Shape 32"/>
          <p:cNvSpPr/>
          <p:nvPr/>
        </p:nvSpPr>
        <p:spPr>
          <a:xfrm>
            <a:off x="640080" y="5166360"/>
            <a:ext cx="411480" cy="411480"/>
          </a:xfrm>
          <a:prstGeom prst="rect">
            <a:avLst/>
          </a:prstGeom>
          <a:solidFill>
            <a:srgbClr val="86BC25"/>
          </a:solidFill>
          <a:ln/>
        </p:spPr>
      </p:sp>
      <p:sp>
        <p:nvSpPr>
          <p:cNvPr id="35" name="Text 33"/>
          <p:cNvSpPr/>
          <p:nvPr/>
        </p:nvSpPr>
        <p:spPr>
          <a:xfrm>
            <a:off x="640080" y="5166360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5</a:t>
            </a:r>
            <a:endParaRPr lang="en-US" sz="1600" dirty="0"/>
          </a:p>
        </p:txBody>
      </p:sp>
      <p:sp>
        <p:nvSpPr>
          <p:cNvPr id="36" name="Text 34"/>
          <p:cNvSpPr/>
          <p:nvPr/>
        </p:nvSpPr>
        <p:spPr>
          <a:xfrm>
            <a:off x="1188720" y="5102352"/>
            <a:ext cx="3749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333333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Narrative Drift Observatory</a:t>
            </a:r>
            <a:endParaRPr lang="en-US" sz="1300" dirty="0"/>
          </a:p>
        </p:txBody>
      </p:sp>
      <p:sp>
        <p:nvSpPr>
          <p:cNvPr id="37" name="Text 35"/>
          <p:cNvSpPr/>
          <p:nvPr/>
        </p:nvSpPr>
        <p:spPr>
          <a:xfrm>
            <a:off x="1188720" y="5413248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86BC25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Media Intel</a:t>
            </a:r>
            <a:endParaRPr lang="en-US" sz="1000" dirty="0"/>
          </a:p>
        </p:txBody>
      </p:sp>
      <p:sp>
        <p:nvSpPr>
          <p:cNvPr id="38" name="Text 36"/>
          <p:cNvSpPr/>
          <p:nvPr/>
        </p:nvSpPr>
        <p:spPr>
          <a:xfrm>
            <a:off x="3291840" y="5413248"/>
            <a:ext cx="2377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7999B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GDELT APIs</a:t>
            </a:r>
            <a:endParaRPr lang="en-US" sz="900" dirty="0"/>
          </a:p>
        </p:txBody>
      </p:sp>
      <p:sp>
        <p:nvSpPr>
          <p:cNvPr id="39" name="Shape 37"/>
          <p:cNvSpPr/>
          <p:nvPr/>
        </p:nvSpPr>
        <p:spPr>
          <a:xfrm>
            <a:off x="6309360" y="1371600"/>
            <a:ext cx="5394960" cy="804672"/>
          </a:xfrm>
          <a:prstGeom prst="rect">
            <a:avLst/>
          </a:prstGeom>
          <a:solidFill>
            <a:srgbClr val="F5F5F5"/>
          </a:solidFill>
          <a:ln/>
        </p:spPr>
      </p:sp>
      <p:sp>
        <p:nvSpPr>
          <p:cNvPr id="40" name="Shape 38"/>
          <p:cNvSpPr/>
          <p:nvPr/>
        </p:nvSpPr>
        <p:spPr>
          <a:xfrm>
            <a:off x="6309360" y="1371600"/>
            <a:ext cx="54864" cy="804672"/>
          </a:xfrm>
          <a:prstGeom prst="rect">
            <a:avLst/>
          </a:prstGeom>
          <a:solidFill>
            <a:srgbClr val="97999B"/>
          </a:solidFill>
          <a:ln/>
        </p:spPr>
      </p:sp>
      <p:sp>
        <p:nvSpPr>
          <p:cNvPr id="41" name="Shape 39"/>
          <p:cNvSpPr/>
          <p:nvPr/>
        </p:nvSpPr>
        <p:spPr>
          <a:xfrm>
            <a:off x="6492240" y="1508760"/>
            <a:ext cx="411480" cy="411480"/>
          </a:xfrm>
          <a:prstGeom prst="rect">
            <a:avLst/>
          </a:prstGeom>
          <a:solidFill>
            <a:srgbClr val="86BC25"/>
          </a:solidFill>
          <a:ln/>
        </p:spPr>
      </p:sp>
      <p:sp>
        <p:nvSpPr>
          <p:cNvPr id="42" name="Text 40"/>
          <p:cNvSpPr/>
          <p:nvPr/>
        </p:nvSpPr>
        <p:spPr>
          <a:xfrm>
            <a:off x="6492240" y="1508760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6</a:t>
            </a:r>
            <a:endParaRPr lang="en-US" sz="1600" dirty="0"/>
          </a:p>
        </p:txBody>
      </p:sp>
      <p:sp>
        <p:nvSpPr>
          <p:cNvPr id="43" name="Text 41"/>
          <p:cNvSpPr/>
          <p:nvPr/>
        </p:nvSpPr>
        <p:spPr>
          <a:xfrm>
            <a:off x="7040880" y="1444752"/>
            <a:ext cx="3749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333333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CVE Dungeon Crawl</a:t>
            </a:r>
            <a:endParaRPr lang="en-US" sz="1300" dirty="0"/>
          </a:p>
        </p:txBody>
      </p:sp>
      <p:sp>
        <p:nvSpPr>
          <p:cNvPr id="44" name="Text 42"/>
          <p:cNvSpPr/>
          <p:nvPr/>
        </p:nvSpPr>
        <p:spPr>
          <a:xfrm>
            <a:off x="7040880" y="1755648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86BC25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Security</a:t>
            </a:r>
            <a:endParaRPr lang="en-US" sz="1000" dirty="0"/>
          </a:p>
        </p:txBody>
      </p:sp>
      <p:sp>
        <p:nvSpPr>
          <p:cNvPr id="45" name="Text 43"/>
          <p:cNvSpPr/>
          <p:nvPr/>
        </p:nvSpPr>
        <p:spPr>
          <a:xfrm>
            <a:off x="9144000" y="1755648"/>
            <a:ext cx="2377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7999B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NVD Vulnerability + CPE APIs</a:t>
            </a:r>
            <a:endParaRPr lang="en-US" sz="900" dirty="0"/>
          </a:p>
        </p:txBody>
      </p:sp>
      <p:sp>
        <p:nvSpPr>
          <p:cNvPr id="46" name="Shape 44"/>
          <p:cNvSpPr/>
          <p:nvPr/>
        </p:nvSpPr>
        <p:spPr>
          <a:xfrm>
            <a:off x="6309360" y="2286000"/>
            <a:ext cx="5394960" cy="804672"/>
          </a:xfrm>
          <a:prstGeom prst="rect">
            <a:avLst/>
          </a:prstGeom>
          <a:solidFill>
            <a:srgbClr val="F5F5F5"/>
          </a:solidFill>
          <a:ln/>
        </p:spPr>
      </p:sp>
      <p:sp>
        <p:nvSpPr>
          <p:cNvPr id="47" name="Shape 45"/>
          <p:cNvSpPr/>
          <p:nvPr/>
        </p:nvSpPr>
        <p:spPr>
          <a:xfrm>
            <a:off x="6309360" y="2286000"/>
            <a:ext cx="54864" cy="804672"/>
          </a:xfrm>
          <a:prstGeom prst="rect">
            <a:avLst/>
          </a:prstGeom>
          <a:solidFill>
            <a:srgbClr val="97999B"/>
          </a:solidFill>
          <a:ln/>
        </p:spPr>
      </p:sp>
      <p:sp>
        <p:nvSpPr>
          <p:cNvPr id="48" name="Shape 46"/>
          <p:cNvSpPr/>
          <p:nvPr/>
        </p:nvSpPr>
        <p:spPr>
          <a:xfrm>
            <a:off x="6492240" y="2423160"/>
            <a:ext cx="411480" cy="411480"/>
          </a:xfrm>
          <a:prstGeom prst="rect">
            <a:avLst/>
          </a:prstGeom>
          <a:solidFill>
            <a:srgbClr val="86BC25"/>
          </a:solidFill>
          <a:ln/>
        </p:spPr>
      </p:sp>
      <p:sp>
        <p:nvSpPr>
          <p:cNvPr id="49" name="Text 47"/>
          <p:cNvSpPr/>
          <p:nvPr/>
        </p:nvSpPr>
        <p:spPr>
          <a:xfrm>
            <a:off x="6492240" y="2423160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7</a:t>
            </a:r>
            <a:endParaRPr lang="en-US" sz="1600" dirty="0"/>
          </a:p>
        </p:txBody>
      </p:sp>
      <p:sp>
        <p:nvSpPr>
          <p:cNvPr id="50" name="Text 48"/>
          <p:cNvSpPr/>
          <p:nvPr/>
        </p:nvSpPr>
        <p:spPr>
          <a:xfrm>
            <a:off x="7040880" y="2359152"/>
            <a:ext cx="3749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333333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Earthquake Sonifier</a:t>
            </a:r>
            <a:endParaRPr lang="en-US" sz="1300" dirty="0"/>
          </a:p>
        </p:txBody>
      </p:sp>
      <p:sp>
        <p:nvSpPr>
          <p:cNvPr id="51" name="Text 49"/>
          <p:cNvSpPr/>
          <p:nvPr/>
        </p:nvSpPr>
        <p:spPr>
          <a:xfrm>
            <a:off x="7040880" y="2670048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86BC25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Experience</a:t>
            </a:r>
            <a:endParaRPr lang="en-US" sz="1000" dirty="0"/>
          </a:p>
        </p:txBody>
      </p:sp>
      <p:sp>
        <p:nvSpPr>
          <p:cNvPr id="52" name="Text 50"/>
          <p:cNvSpPr/>
          <p:nvPr/>
        </p:nvSpPr>
        <p:spPr>
          <a:xfrm>
            <a:off x="9144000" y="2670048"/>
            <a:ext cx="2377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7999B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USGS Earthquake Catalog</a:t>
            </a:r>
            <a:endParaRPr lang="en-US" sz="900" dirty="0"/>
          </a:p>
        </p:txBody>
      </p:sp>
      <p:sp>
        <p:nvSpPr>
          <p:cNvPr id="53" name="Shape 51"/>
          <p:cNvSpPr/>
          <p:nvPr/>
        </p:nvSpPr>
        <p:spPr>
          <a:xfrm>
            <a:off x="6309360" y="3200400"/>
            <a:ext cx="5394960" cy="804672"/>
          </a:xfrm>
          <a:prstGeom prst="rect">
            <a:avLst/>
          </a:prstGeom>
          <a:solidFill>
            <a:srgbClr val="F5F5F5"/>
          </a:solidFill>
          <a:ln/>
        </p:spPr>
      </p:sp>
      <p:sp>
        <p:nvSpPr>
          <p:cNvPr id="54" name="Shape 52"/>
          <p:cNvSpPr/>
          <p:nvPr/>
        </p:nvSpPr>
        <p:spPr>
          <a:xfrm>
            <a:off x="6309360" y="3200400"/>
            <a:ext cx="54864" cy="804672"/>
          </a:xfrm>
          <a:prstGeom prst="rect">
            <a:avLst/>
          </a:prstGeom>
          <a:solidFill>
            <a:srgbClr val="97999B"/>
          </a:solidFill>
          <a:ln/>
        </p:spPr>
      </p:sp>
      <p:sp>
        <p:nvSpPr>
          <p:cNvPr id="55" name="Shape 53"/>
          <p:cNvSpPr/>
          <p:nvPr/>
        </p:nvSpPr>
        <p:spPr>
          <a:xfrm>
            <a:off x="6492240" y="3337560"/>
            <a:ext cx="411480" cy="411480"/>
          </a:xfrm>
          <a:prstGeom prst="rect">
            <a:avLst/>
          </a:prstGeom>
          <a:solidFill>
            <a:srgbClr val="86BC25"/>
          </a:solidFill>
          <a:ln/>
        </p:spPr>
      </p:sp>
      <p:sp>
        <p:nvSpPr>
          <p:cNvPr id="56" name="Text 54"/>
          <p:cNvSpPr/>
          <p:nvPr/>
        </p:nvSpPr>
        <p:spPr>
          <a:xfrm>
            <a:off x="6492240" y="3337560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8</a:t>
            </a:r>
            <a:endParaRPr lang="en-US" sz="1600" dirty="0"/>
          </a:p>
        </p:txBody>
      </p:sp>
      <p:sp>
        <p:nvSpPr>
          <p:cNvPr id="57" name="Text 55"/>
          <p:cNvSpPr/>
          <p:nvPr/>
        </p:nvSpPr>
        <p:spPr>
          <a:xfrm>
            <a:off x="7040880" y="3273552"/>
            <a:ext cx="3749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333333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Book Genome Builder</a:t>
            </a:r>
            <a:endParaRPr lang="en-US" sz="1300" dirty="0"/>
          </a:p>
        </p:txBody>
      </p:sp>
      <p:sp>
        <p:nvSpPr>
          <p:cNvPr id="58" name="Text 56"/>
          <p:cNvSpPr/>
          <p:nvPr/>
        </p:nvSpPr>
        <p:spPr>
          <a:xfrm>
            <a:off x="7040880" y="3584448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86BC25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Discovery</a:t>
            </a:r>
            <a:endParaRPr lang="en-US" sz="1000" dirty="0"/>
          </a:p>
        </p:txBody>
      </p:sp>
      <p:sp>
        <p:nvSpPr>
          <p:cNvPr id="59" name="Text 57"/>
          <p:cNvSpPr/>
          <p:nvPr/>
        </p:nvSpPr>
        <p:spPr>
          <a:xfrm>
            <a:off x="9144000" y="3584448"/>
            <a:ext cx="2377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7999B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Open Library Search API</a:t>
            </a:r>
            <a:endParaRPr lang="en-US" sz="900" dirty="0"/>
          </a:p>
        </p:txBody>
      </p:sp>
      <p:sp>
        <p:nvSpPr>
          <p:cNvPr id="60" name="Shape 58"/>
          <p:cNvSpPr/>
          <p:nvPr/>
        </p:nvSpPr>
        <p:spPr>
          <a:xfrm>
            <a:off x="6309360" y="4114800"/>
            <a:ext cx="5394960" cy="804672"/>
          </a:xfrm>
          <a:prstGeom prst="rect">
            <a:avLst/>
          </a:prstGeom>
          <a:solidFill>
            <a:srgbClr val="F5F5F5"/>
          </a:solidFill>
          <a:ln/>
        </p:spPr>
      </p:sp>
      <p:sp>
        <p:nvSpPr>
          <p:cNvPr id="61" name="Shape 59"/>
          <p:cNvSpPr/>
          <p:nvPr/>
        </p:nvSpPr>
        <p:spPr>
          <a:xfrm>
            <a:off x="6309360" y="4114800"/>
            <a:ext cx="54864" cy="804672"/>
          </a:xfrm>
          <a:prstGeom prst="rect">
            <a:avLst/>
          </a:prstGeom>
          <a:solidFill>
            <a:srgbClr val="97999B"/>
          </a:solidFill>
          <a:ln/>
        </p:spPr>
      </p:sp>
      <p:sp>
        <p:nvSpPr>
          <p:cNvPr id="62" name="Shape 60"/>
          <p:cNvSpPr/>
          <p:nvPr/>
        </p:nvSpPr>
        <p:spPr>
          <a:xfrm>
            <a:off x="6492240" y="4251960"/>
            <a:ext cx="411480" cy="411480"/>
          </a:xfrm>
          <a:prstGeom prst="rect">
            <a:avLst/>
          </a:prstGeom>
          <a:solidFill>
            <a:srgbClr val="86BC25"/>
          </a:solidFill>
          <a:ln/>
        </p:spPr>
      </p:sp>
      <p:sp>
        <p:nvSpPr>
          <p:cNvPr id="63" name="Text 61"/>
          <p:cNvSpPr/>
          <p:nvPr/>
        </p:nvSpPr>
        <p:spPr>
          <a:xfrm>
            <a:off x="6492240" y="4251960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9</a:t>
            </a:r>
            <a:endParaRPr lang="en-US" sz="1600" dirty="0"/>
          </a:p>
        </p:txBody>
      </p:sp>
      <p:sp>
        <p:nvSpPr>
          <p:cNvPr id="64" name="Text 62"/>
          <p:cNvSpPr/>
          <p:nvPr/>
        </p:nvSpPr>
        <p:spPr>
          <a:xfrm>
            <a:off x="7040880" y="4187952"/>
            <a:ext cx="3749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333333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Paper Frontier Radar</a:t>
            </a:r>
            <a:endParaRPr lang="en-US" sz="1300" dirty="0"/>
          </a:p>
        </p:txBody>
      </p:sp>
      <p:sp>
        <p:nvSpPr>
          <p:cNvPr id="65" name="Text 63"/>
          <p:cNvSpPr/>
          <p:nvPr/>
        </p:nvSpPr>
        <p:spPr>
          <a:xfrm>
            <a:off x="7040880" y="4498848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86BC25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Research</a:t>
            </a:r>
            <a:endParaRPr lang="en-US" sz="1000" dirty="0"/>
          </a:p>
        </p:txBody>
      </p:sp>
      <p:sp>
        <p:nvSpPr>
          <p:cNvPr id="66" name="Text 64"/>
          <p:cNvSpPr/>
          <p:nvPr/>
        </p:nvSpPr>
        <p:spPr>
          <a:xfrm>
            <a:off x="9144000" y="4498848"/>
            <a:ext cx="2377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7999B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arXiv API</a:t>
            </a:r>
            <a:endParaRPr lang="en-US" sz="900" dirty="0"/>
          </a:p>
        </p:txBody>
      </p:sp>
      <p:sp>
        <p:nvSpPr>
          <p:cNvPr id="67" name="Shape 65"/>
          <p:cNvSpPr/>
          <p:nvPr/>
        </p:nvSpPr>
        <p:spPr>
          <a:xfrm>
            <a:off x="6309360" y="5029200"/>
            <a:ext cx="5394960" cy="804672"/>
          </a:xfrm>
          <a:prstGeom prst="rect">
            <a:avLst/>
          </a:prstGeom>
          <a:solidFill>
            <a:srgbClr val="F5F5F5"/>
          </a:solidFill>
          <a:ln/>
        </p:spPr>
      </p:sp>
      <p:sp>
        <p:nvSpPr>
          <p:cNvPr id="68" name="Shape 66"/>
          <p:cNvSpPr/>
          <p:nvPr/>
        </p:nvSpPr>
        <p:spPr>
          <a:xfrm>
            <a:off x="6309360" y="5029200"/>
            <a:ext cx="54864" cy="804672"/>
          </a:xfrm>
          <a:prstGeom prst="rect">
            <a:avLst/>
          </a:prstGeom>
          <a:solidFill>
            <a:srgbClr val="97999B"/>
          </a:solidFill>
          <a:ln/>
        </p:spPr>
      </p:sp>
      <p:sp>
        <p:nvSpPr>
          <p:cNvPr id="69" name="Shape 67"/>
          <p:cNvSpPr/>
          <p:nvPr/>
        </p:nvSpPr>
        <p:spPr>
          <a:xfrm>
            <a:off x="6492240" y="5166360"/>
            <a:ext cx="502920" cy="411480"/>
          </a:xfrm>
          <a:prstGeom prst="rect">
            <a:avLst/>
          </a:prstGeom>
          <a:solidFill>
            <a:srgbClr val="86BC25"/>
          </a:solidFill>
          <a:ln/>
        </p:spPr>
      </p:sp>
      <p:sp>
        <p:nvSpPr>
          <p:cNvPr id="70" name="Text 68"/>
          <p:cNvSpPr/>
          <p:nvPr/>
        </p:nvSpPr>
        <p:spPr>
          <a:xfrm>
            <a:off x="6492240" y="5166360"/>
            <a:ext cx="5029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10</a:t>
            </a:r>
            <a:endParaRPr lang="en-US" sz="1600" dirty="0"/>
          </a:p>
        </p:txBody>
      </p:sp>
      <p:sp>
        <p:nvSpPr>
          <p:cNvPr id="71" name="Text 69"/>
          <p:cNvSpPr/>
          <p:nvPr/>
        </p:nvSpPr>
        <p:spPr>
          <a:xfrm>
            <a:off x="7040880" y="5102352"/>
            <a:ext cx="3749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333333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Museum Loot Generator</a:t>
            </a:r>
            <a:endParaRPr lang="en-US" sz="1300" dirty="0"/>
          </a:p>
        </p:txBody>
      </p:sp>
      <p:sp>
        <p:nvSpPr>
          <p:cNvPr id="72" name="Text 70"/>
          <p:cNvSpPr/>
          <p:nvPr/>
        </p:nvSpPr>
        <p:spPr>
          <a:xfrm>
            <a:off x="7040880" y="5413248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86BC25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Culture</a:t>
            </a:r>
            <a:endParaRPr lang="en-US" sz="1000" dirty="0"/>
          </a:p>
        </p:txBody>
      </p:sp>
      <p:sp>
        <p:nvSpPr>
          <p:cNvPr id="73" name="Text 71"/>
          <p:cNvSpPr/>
          <p:nvPr/>
        </p:nvSpPr>
        <p:spPr>
          <a:xfrm>
            <a:off x="9144000" y="5413248"/>
            <a:ext cx="2377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7999B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Met Collection / Smithsonian API</a:t>
            </a:r>
            <a:endParaRPr lang="en-US" sz="900" dirty="0"/>
          </a:p>
        </p:txBody>
      </p:sp>
      <p:sp>
        <p:nvSpPr>
          <p:cNvPr id="74" name="Shape 72"/>
          <p:cNvSpPr/>
          <p:nvPr/>
        </p:nvSpPr>
        <p:spPr>
          <a:xfrm>
            <a:off x="457200" y="5989320"/>
            <a:ext cx="11277295" cy="411480"/>
          </a:xfrm>
          <a:prstGeom prst="rect">
            <a:avLst/>
          </a:prstGeom>
          <a:solidFill>
            <a:srgbClr val="F5F5F5"/>
          </a:solidFill>
          <a:ln/>
        </p:spPr>
      </p:sp>
      <p:sp>
        <p:nvSpPr>
          <p:cNvPr id="75" name="Shape 73"/>
          <p:cNvSpPr/>
          <p:nvPr/>
        </p:nvSpPr>
        <p:spPr>
          <a:xfrm>
            <a:off x="457200" y="5989320"/>
            <a:ext cx="73152" cy="411480"/>
          </a:xfrm>
          <a:prstGeom prst="rect">
            <a:avLst/>
          </a:prstGeom>
          <a:solidFill>
            <a:srgbClr val="97999B"/>
          </a:solidFill>
          <a:ln/>
        </p:spPr>
      </p:sp>
      <p:sp>
        <p:nvSpPr>
          <p:cNvPr id="76" name="Text 74"/>
          <p:cNvSpPr/>
          <p:nvPr/>
        </p:nvSpPr>
        <p:spPr>
          <a:xfrm>
            <a:off x="640080" y="6080760"/>
            <a:ext cx="11094415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333333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All 10 ideas use free, well-documented APIs with no licensing barriers to entry</a:t>
            </a:r>
            <a:endParaRPr lang="en-US" sz="1300" dirty="0"/>
          </a:p>
        </p:txBody>
      </p:sp>
      <p:sp>
        <p:nvSpPr>
          <p:cNvPr id="77" name="Text 75"/>
          <p:cNvSpPr/>
          <p:nvPr/>
        </p:nvSpPr>
        <p:spPr>
          <a:xfrm>
            <a:off x="457200" y="649224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7999B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Source: Public API documentation review</a:t>
            </a:r>
            <a:endParaRPr lang="en-US" sz="900" dirty="0"/>
          </a:p>
        </p:txBody>
      </p:sp>
      <p:sp>
        <p:nvSpPr>
          <p:cNvPr id="78" name="Text 76"/>
          <p:cNvSpPr/>
          <p:nvPr/>
        </p:nvSpPr>
        <p:spPr>
          <a:xfrm>
            <a:off x="11277295" y="649224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7999B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11277295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333333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Intelligence and compliance ventures exploit freely available change data at scale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457200" y="1234440"/>
            <a:ext cx="11277295" cy="27432"/>
          </a:xfrm>
          <a:prstGeom prst="rect">
            <a:avLst/>
          </a:prstGeom>
          <a:solidFill>
            <a:srgbClr val="333333"/>
          </a:solidFill>
          <a:ln/>
        </p:spPr>
      </p:sp>
      <p:sp>
        <p:nvSpPr>
          <p:cNvPr id="4" name="Shape 2"/>
          <p:cNvSpPr/>
          <p:nvPr/>
        </p:nvSpPr>
        <p:spPr>
          <a:xfrm>
            <a:off x="457200" y="1371600"/>
            <a:ext cx="11277295" cy="1435608"/>
          </a:xfrm>
          <a:prstGeom prst="rect">
            <a:avLst/>
          </a:prstGeom>
          <a:solidFill>
            <a:srgbClr val="F5F5F5"/>
          </a:solidFill>
          <a:ln/>
          <a:effectLst>
            <a:outerShdw blurRad="762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457200" y="1371600"/>
            <a:ext cx="73152" cy="1435608"/>
          </a:xfrm>
          <a:prstGeom prst="rect">
            <a:avLst/>
          </a:prstGeom>
          <a:solidFill>
            <a:srgbClr val="97999B"/>
          </a:solidFill>
          <a:ln/>
        </p:spPr>
      </p:sp>
      <p:sp>
        <p:nvSpPr>
          <p:cNvPr id="6" name="Shape 4"/>
          <p:cNvSpPr/>
          <p:nvPr/>
        </p:nvSpPr>
        <p:spPr>
          <a:xfrm>
            <a:off x="685800" y="1508760"/>
            <a:ext cx="457200" cy="457200"/>
          </a:xfrm>
          <a:prstGeom prst="rect">
            <a:avLst/>
          </a:prstGeom>
          <a:solidFill>
            <a:srgbClr val="86BC25"/>
          </a:solidFill>
          <a:ln/>
        </p:spPr>
      </p:sp>
      <p:sp>
        <p:nvSpPr>
          <p:cNvPr id="7" name="Text 5"/>
          <p:cNvSpPr/>
          <p:nvPr/>
        </p:nvSpPr>
        <p:spPr>
          <a:xfrm>
            <a:off x="685800" y="150876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1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1371600" y="1463040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333333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Website Time-Lapse Detective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1371600" y="1755648"/>
            <a:ext cx="4572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86BC25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Wayback CDX API  ·  Free / Unlimited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1371600" y="2011680"/>
            <a:ext cx="5943600" cy="5212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33333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Track how a company's messaging evolves over time. Generate a "change fingerprint" — new claims, removed claims, wording drift — from historical web captures.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7894015" y="1463040"/>
            <a:ext cx="3657600" cy="1252728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2" name="Text 10"/>
          <p:cNvSpPr/>
          <p:nvPr/>
        </p:nvSpPr>
        <p:spPr>
          <a:xfrm>
            <a:off x="7985455" y="1508760"/>
            <a:ext cx="34747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86BC25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Business Case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7985455" y="1737360"/>
            <a:ext cx="3474720" cy="8869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33333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Competitive intelligence SaaS for brand strategists, investors, and M&amp;A due diligence teams.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457200" y="2880360"/>
            <a:ext cx="11277295" cy="1435608"/>
          </a:xfrm>
          <a:prstGeom prst="rect">
            <a:avLst/>
          </a:prstGeom>
          <a:solidFill>
            <a:srgbClr val="F5F5F5"/>
          </a:solidFill>
          <a:ln/>
          <a:effectLst>
            <a:outerShdw blurRad="762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457200" y="2880360"/>
            <a:ext cx="73152" cy="1435608"/>
          </a:xfrm>
          <a:prstGeom prst="rect">
            <a:avLst/>
          </a:prstGeom>
          <a:solidFill>
            <a:srgbClr val="97999B"/>
          </a:solidFill>
          <a:ln/>
        </p:spPr>
      </p:sp>
      <p:sp>
        <p:nvSpPr>
          <p:cNvPr id="16" name="Shape 14"/>
          <p:cNvSpPr/>
          <p:nvPr/>
        </p:nvSpPr>
        <p:spPr>
          <a:xfrm>
            <a:off x="685800" y="3017520"/>
            <a:ext cx="457200" cy="457200"/>
          </a:xfrm>
          <a:prstGeom prst="rect">
            <a:avLst/>
          </a:prstGeom>
          <a:solidFill>
            <a:srgbClr val="86BC25"/>
          </a:solidFill>
          <a:ln/>
        </p:spPr>
      </p:sp>
      <p:sp>
        <p:nvSpPr>
          <p:cNvPr id="17" name="Text 15"/>
          <p:cNvSpPr/>
          <p:nvPr/>
        </p:nvSpPr>
        <p:spPr>
          <a:xfrm>
            <a:off x="685800" y="301752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2</a:t>
            </a:r>
            <a:endParaRPr lang="en-US" sz="2000" dirty="0"/>
          </a:p>
        </p:txBody>
      </p:sp>
      <p:sp>
        <p:nvSpPr>
          <p:cNvPr id="18" name="Text 16"/>
          <p:cNvSpPr/>
          <p:nvPr/>
        </p:nvSpPr>
        <p:spPr>
          <a:xfrm>
            <a:off x="1371600" y="2971800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333333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Invisible City Atlas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1371600" y="3264408"/>
            <a:ext cx="4572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86BC25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Overpass API (OSM)  ·  Free / Rate-limited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1371600" y="3520440"/>
            <a:ext cx="5943600" cy="5212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33333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Map what nobody maps: AEDs, water fountains, public toilets, bicycle pumps, wheelchair entrances. Compute a "survivability score" per neighborhood.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7894015" y="2971800"/>
            <a:ext cx="3657600" cy="1252728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22" name="Text 20"/>
          <p:cNvSpPr/>
          <p:nvPr/>
        </p:nvSpPr>
        <p:spPr>
          <a:xfrm>
            <a:off x="7985455" y="3017520"/>
            <a:ext cx="34747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86BC25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Business Case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7985455" y="3246120"/>
            <a:ext cx="3474720" cy="8869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33333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B2G civic analytics, real estate intelligence add-on, accessibility consulting tool.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457200" y="4389120"/>
            <a:ext cx="11277295" cy="1435608"/>
          </a:xfrm>
          <a:prstGeom prst="rect">
            <a:avLst/>
          </a:prstGeom>
          <a:solidFill>
            <a:srgbClr val="F5F5F5"/>
          </a:solidFill>
          <a:ln/>
          <a:effectLst>
            <a:outerShdw blurRad="762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457200" y="4389120"/>
            <a:ext cx="73152" cy="1435608"/>
          </a:xfrm>
          <a:prstGeom prst="rect">
            <a:avLst/>
          </a:prstGeom>
          <a:solidFill>
            <a:srgbClr val="97999B"/>
          </a:solidFill>
          <a:ln/>
        </p:spPr>
      </p:sp>
      <p:sp>
        <p:nvSpPr>
          <p:cNvPr id="26" name="Shape 24"/>
          <p:cNvSpPr/>
          <p:nvPr/>
        </p:nvSpPr>
        <p:spPr>
          <a:xfrm>
            <a:off x="685800" y="4526280"/>
            <a:ext cx="457200" cy="457200"/>
          </a:xfrm>
          <a:prstGeom prst="rect">
            <a:avLst/>
          </a:prstGeom>
          <a:solidFill>
            <a:srgbClr val="86BC25"/>
          </a:solidFill>
          <a:ln/>
        </p:spPr>
      </p:sp>
      <p:sp>
        <p:nvSpPr>
          <p:cNvPr id="27" name="Text 25"/>
          <p:cNvSpPr/>
          <p:nvPr/>
        </p:nvSpPr>
        <p:spPr>
          <a:xfrm>
            <a:off x="685800" y="452628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3</a:t>
            </a:r>
            <a:endParaRPr lang="en-US" sz="2000" dirty="0"/>
          </a:p>
        </p:txBody>
      </p:sp>
      <p:sp>
        <p:nvSpPr>
          <p:cNvPr id="28" name="Text 26"/>
          <p:cNvSpPr/>
          <p:nvPr/>
        </p:nvSpPr>
        <p:spPr>
          <a:xfrm>
            <a:off x="1371600" y="4480560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333333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Regulation Diff Bot</a:t>
            </a:r>
            <a:endParaRPr lang="en-US" sz="1600" dirty="0"/>
          </a:p>
        </p:txBody>
      </p:sp>
      <p:sp>
        <p:nvSpPr>
          <p:cNvPr id="29" name="Text 27"/>
          <p:cNvSpPr/>
          <p:nvPr/>
        </p:nvSpPr>
        <p:spPr>
          <a:xfrm>
            <a:off x="1371600" y="4773168"/>
            <a:ext cx="4572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86BC25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Federal Register API  ·  Free / Unlimited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1371600" y="5029200"/>
            <a:ext cx="5943600" cy="5212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33333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Pick a topic (AI, crypto, trucking). See what changed this week as a red/green diff with plain-English tags and attribution.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7894015" y="4480560"/>
            <a:ext cx="3657600" cy="1252728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2" name="Text 30"/>
          <p:cNvSpPr/>
          <p:nvPr/>
        </p:nvSpPr>
        <p:spPr>
          <a:xfrm>
            <a:off x="7985455" y="4526280"/>
            <a:ext cx="34747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86BC25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Business Case</a:t>
            </a:r>
            <a:endParaRPr lang="en-US" sz="1000" dirty="0"/>
          </a:p>
        </p:txBody>
      </p:sp>
      <p:sp>
        <p:nvSpPr>
          <p:cNvPr id="33" name="Text 31"/>
          <p:cNvSpPr/>
          <p:nvPr/>
        </p:nvSpPr>
        <p:spPr>
          <a:xfrm>
            <a:off x="7985455" y="4754880"/>
            <a:ext cx="3474720" cy="8869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33333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Compliance-as-a-service for regulated industries. Weekly digest product for legal teams and lobbyists.</a:t>
            </a:r>
            <a:endParaRPr lang="en-US" sz="1000" dirty="0"/>
          </a:p>
        </p:txBody>
      </p:sp>
      <p:sp>
        <p:nvSpPr>
          <p:cNvPr id="34" name="Shape 32"/>
          <p:cNvSpPr/>
          <p:nvPr/>
        </p:nvSpPr>
        <p:spPr>
          <a:xfrm>
            <a:off x="457200" y="5989320"/>
            <a:ext cx="11277295" cy="411480"/>
          </a:xfrm>
          <a:prstGeom prst="rect">
            <a:avLst/>
          </a:prstGeom>
          <a:solidFill>
            <a:srgbClr val="F5F5F5"/>
          </a:solidFill>
          <a:ln/>
        </p:spPr>
      </p:sp>
      <p:sp>
        <p:nvSpPr>
          <p:cNvPr id="35" name="Shape 33"/>
          <p:cNvSpPr/>
          <p:nvPr/>
        </p:nvSpPr>
        <p:spPr>
          <a:xfrm>
            <a:off x="457200" y="5989320"/>
            <a:ext cx="73152" cy="411480"/>
          </a:xfrm>
          <a:prstGeom prst="rect">
            <a:avLst/>
          </a:prstGeom>
          <a:solidFill>
            <a:srgbClr val="97999B"/>
          </a:solidFill>
          <a:ln/>
        </p:spPr>
      </p:sp>
      <p:sp>
        <p:nvSpPr>
          <p:cNvPr id="36" name="Text 34"/>
          <p:cNvSpPr/>
          <p:nvPr/>
        </p:nvSpPr>
        <p:spPr>
          <a:xfrm>
            <a:off x="640080" y="6080760"/>
            <a:ext cx="11094415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333333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Web archiving, civic mapping, and regulation tracking — three proven data sources, zero licensing cost</a:t>
            </a:r>
            <a:endParaRPr lang="en-US" sz="1300" dirty="0"/>
          </a:p>
        </p:txBody>
      </p:sp>
      <p:sp>
        <p:nvSpPr>
          <p:cNvPr id="37" name="Text 35"/>
          <p:cNvSpPr/>
          <p:nvPr/>
        </p:nvSpPr>
        <p:spPr>
          <a:xfrm>
            <a:off x="457200" y="649224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7999B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Source: Public API documentation review</a:t>
            </a:r>
            <a:endParaRPr lang="en-US" sz="900" dirty="0"/>
          </a:p>
        </p:txBody>
      </p:sp>
      <p:sp>
        <p:nvSpPr>
          <p:cNvPr id="38" name="Text 36"/>
          <p:cNvSpPr/>
          <p:nvPr/>
        </p:nvSpPr>
        <p:spPr>
          <a:xfrm>
            <a:off x="11277295" y="649224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7999B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11277295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333333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Attention tracking and narrative analysis serve strategy, media, and PR teams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457200" y="1234440"/>
            <a:ext cx="11277295" cy="27432"/>
          </a:xfrm>
          <a:prstGeom prst="rect">
            <a:avLst/>
          </a:prstGeom>
          <a:solidFill>
            <a:srgbClr val="333333"/>
          </a:solidFill>
          <a:ln/>
        </p:spPr>
      </p:sp>
      <p:sp>
        <p:nvSpPr>
          <p:cNvPr id="4" name="Shape 2"/>
          <p:cNvSpPr/>
          <p:nvPr/>
        </p:nvSpPr>
        <p:spPr>
          <a:xfrm>
            <a:off x="457200" y="1371600"/>
            <a:ext cx="11277295" cy="2189988"/>
          </a:xfrm>
          <a:prstGeom prst="rect">
            <a:avLst/>
          </a:prstGeom>
          <a:solidFill>
            <a:srgbClr val="F5F5F5"/>
          </a:solidFill>
          <a:ln/>
          <a:effectLst>
            <a:outerShdw blurRad="762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457200" y="1371600"/>
            <a:ext cx="73152" cy="2189988"/>
          </a:xfrm>
          <a:prstGeom prst="rect">
            <a:avLst/>
          </a:prstGeom>
          <a:solidFill>
            <a:srgbClr val="97999B"/>
          </a:solidFill>
          <a:ln/>
        </p:spPr>
      </p:sp>
      <p:sp>
        <p:nvSpPr>
          <p:cNvPr id="6" name="Shape 4"/>
          <p:cNvSpPr/>
          <p:nvPr/>
        </p:nvSpPr>
        <p:spPr>
          <a:xfrm>
            <a:off x="685800" y="1508760"/>
            <a:ext cx="457200" cy="457200"/>
          </a:xfrm>
          <a:prstGeom prst="rect">
            <a:avLst/>
          </a:prstGeom>
          <a:solidFill>
            <a:srgbClr val="86BC25"/>
          </a:solidFill>
          <a:ln/>
        </p:spPr>
      </p:sp>
      <p:sp>
        <p:nvSpPr>
          <p:cNvPr id="7" name="Text 5"/>
          <p:cNvSpPr/>
          <p:nvPr/>
        </p:nvSpPr>
        <p:spPr>
          <a:xfrm>
            <a:off x="685800" y="150876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4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1371600" y="1463040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333333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Wikipedia Attention Weather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1371600" y="1755648"/>
            <a:ext cx="4572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86BC25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Wikimedia Pageviews API  ·  Free / Unlimited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1371600" y="2011680"/>
            <a:ext cx="5943600" cy="12755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33333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Track attention fronts that move across languages and countries over time. Render like a meteorology map — not trending topics, attention systems.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7894015" y="1463040"/>
            <a:ext cx="3657600" cy="2007108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2" name="Text 10"/>
          <p:cNvSpPr/>
          <p:nvPr/>
        </p:nvSpPr>
        <p:spPr>
          <a:xfrm>
            <a:off x="7985455" y="1508760"/>
            <a:ext cx="34747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86BC25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Business Case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7985455" y="1737360"/>
            <a:ext cx="3474720" cy="16413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33333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Media monitoring add-on, geopolitical intelligence layer, newsroom planning tool.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457200" y="3634740"/>
            <a:ext cx="11277295" cy="2189988"/>
          </a:xfrm>
          <a:prstGeom prst="rect">
            <a:avLst/>
          </a:prstGeom>
          <a:solidFill>
            <a:srgbClr val="F5F5F5"/>
          </a:solidFill>
          <a:ln/>
          <a:effectLst>
            <a:outerShdw blurRad="762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457200" y="3634740"/>
            <a:ext cx="73152" cy="2189988"/>
          </a:xfrm>
          <a:prstGeom prst="rect">
            <a:avLst/>
          </a:prstGeom>
          <a:solidFill>
            <a:srgbClr val="97999B"/>
          </a:solidFill>
          <a:ln/>
        </p:spPr>
      </p:sp>
      <p:sp>
        <p:nvSpPr>
          <p:cNvPr id="16" name="Shape 14"/>
          <p:cNvSpPr/>
          <p:nvPr/>
        </p:nvSpPr>
        <p:spPr>
          <a:xfrm>
            <a:off x="685800" y="3771900"/>
            <a:ext cx="457200" cy="457200"/>
          </a:xfrm>
          <a:prstGeom prst="rect">
            <a:avLst/>
          </a:prstGeom>
          <a:solidFill>
            <a:srgbClr val="86BC25"/>
          </a:solidFill>
          <a:ln/>
        </p:spPr>
      </p:sp>
      <p:sp>
        <p:nvSpPr>
          <p:cNvPr id="17" name="Text 15"/>
          <p:cNvSpPr/>
          <p:nvPr/>
        </p:nvSpPr>
        <p:spPr>
          <a:xfrm>
            <a:off x="685800" y="377190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5</a:t>
            </a:r>
            <a:endParaRPr lang="en-US" sz="2000" dirty="0"/>
          </a:p>
        </p:txBody>
      </p:sp>
      <p:sp>
        <p:nvSpPr>
          <p:cNvPr id="18" name="Text 16"/>
          <p:cNvSpPr/>
          <p:nvPr/>
        </p:nvSpPr>
        <p:spPr>
          <a:xfrm>
            <a:off x="1371600" y="3726180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333333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Narrative Drift Observatory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1371600" y="4018788"/>
            <a:ext cx="4572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86BC25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GDELT APIs  ·  Free / Unlimited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1371600" y="4274820"/>
            <a:ext cx="5943600" cy="12755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33333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"How is the world framing Topic X this month vs last month?" Compare language, locations, sources, and show a framing shift timeline.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7894015" y="3726180"/>
            <a:ext cx="3657600" cy="2007108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22" name="Text 20"/>
          <p:cNvSpPr/>
          <p:nvPr/>
        </p:nvSpPr>
        <p:spPr>
          <a:xfrm>
            <a:off x="7985455" y="3771900"/>
            <a:ext cx="34747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86BC25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Business Case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7985455" y="4000500"/>
            <a:ext cx="3474720" cy="16413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33333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PR/comms intelligence, think tank research tool, brand narrative monitoring.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457200" y="5989320"/>
            <a:ext cx="11277295" cy="411480"/>
          </a:xfrm>
          <a:prstGeom prst="rect">
            <a:avLst/>
          </a:prstGeom>
          <a:solidFill>
            <a:srgbClr val="F5F5F5"/>
          </a:solidFill>
          <a:ln/>
        </p:spPr>
      </p:sp>
      <p:sp>
        <p:nvSpPr>
          <p:cNvPr id="25" name="Shape 23"/>
          <p:cNvSpPr/>
          <p:nvPr/>
        </p:nvSpPr>
        <p:spPr>
          <a:xfrm>
            <a:off x="457200" y="5989320"/>
            <a:ext cx="73152" cy="411480"/>
          </a:xfrm>
          <a:prstGeom prst="rect">
            <a:avLst/>
          </a:prstGeom>
          <a:solidFill>
            <a:srgbClr val="97999B"/>
          </a:solidFill>
          <a:ln/>
        </p:spPr>
      </p:sp>
      <p:sp>
        <p:nvSpPr>
          <p:cNvPr id="26" name="Text 24"/>
          <p:cNvSpPr/>
          <p:nvPr/>
        </p:nvSpPr>
        <p:spPr>
          <a:xfrm>
            <a:off x="640080" y="6080760"/>
            <a:ext cx="11094415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333333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Wikipedia attention patterns and GDELT framing shifts — early signals for media, geopolitics, and brand teams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457200" y="649224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7999B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Source: Public API documentation review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11277295" y="649224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7999B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5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11277295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333333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Gamified security and data sonification turn technical feeds into engaging products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457200" y="1234440"/>
            <a:ext cx="11277295" cy="27432"/>
          </a:xfrm>
          <a:prstGeom prst="rect">
            <a:avLst/>
          </a:prstGeom>
          <a:solidFill>
            <a:srgbClr val="333333"/>
          </a:solidFill>
          <a:ln/>
        </p:spPr>
      </p:sp>
      <p:sp>
        <p:nvSpPr>
          <p:cNvPr id="4" name="Shape 2"/>
          <p:cNvSpPr/>
          <p:nvPr/>
        </p:nvSpPr>
        <p:spPr>
          <a:xfrm>
            <a:off x="457200" y="1371600"/>
            <a:ext cx="11277295" cy="2189988"/>
          </a:xfrm>
          <a:prstGeom prst="rect">
            <a:avLst/>
          </a:prstGeom>
          <a:solidFill>
            <a:srgbClr val="F5F5F5"/>
          </a:solidFill>
          <a:ln/>
          <a:effectLst>
            <a:outerShdw blurRad="762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457200" y="1371600"/>
            <a:ext cx="73152" cy="2189988"/>
          </a:xfrm>
          <a:prstGeom prst="rect">
            <a:avLst/>
          </a:prstGeom>
          <a:solidFill>
            <a:srgbClr val="97999B"/>
          </a:solidFill>
          <a:ln/>
        </p:spPr>
      </p:sp>
      <p:sp>
        <p:nvSpPr>
          <p:cNvPr id="6" name="Shape 4"/>
          <p:cNvSpPr/>
          <p:nvPr/>
        </p:nvSpPr>
        <p:spPr>
          <a:xfrm>
            <a:off x="685800" y="1508760"/>
            <a:ext cx="457200" cy="457200"/>
          </a:xfrm>
          <a:prstGeom prst="rect">
            <a:avLst/>
          </a:prstGeom>
          <a:solidFill>
            <a:srgbClr val="86BC25"/>
          </a:solidFill>
          <a:ln/>
        </p:spPr>
      </p:sp>
      <p:sp>
        <p:nvSpPr>
          <p:cNvPr id="7" name="Text 5"/>
          <p:cNvSpPr/>
          <p:nvPr/>
        </p:nvSpPr>
        <p:spPr>
          <a:xfrm>
            <a:off x="685800" y="150876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6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1371600" y="1463040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333333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CVE Dungeon Crawl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1371600" y="1755648"/>
            <a:ext cx="4572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86BC25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NVD Vulnerability + CPE APIs  ·  Free / API key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1371600" y="2011680"/>
            <a:ext cx="5943600" cy="12755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33333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Gamify security: your tech stack is a party, CVEs are monsters. Level up by applying mitigations. Weekly attack cycles.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7894015" y="1463040"/>
            <a:ext cx="3657600" cy="2007108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2" name="Text 10"/>
          <p:cNvSpPr/>
          <p:nvPr/>
        </p:nvSpPr>
        <p:spPr>
          <a:xfrm>
            <a:off x="7985455" y="1508760"/>
            <a:ext cx="34747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86BC25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Business Case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7985455" y="1737360"/>
            <a:ext cx="3474720" cy="16413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33333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Developer engagement tool for security teams. Enterprise gamification platform for patch compliance.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457200" y="3634740"/>
            <a:ext cx="11277295" cy="2189988"/>
          </a:xfrm>
          <a:prstGeom prst="rect">
            <a:avLst/>
          </a:prstGeom>
          <a:solidFill>
            <a:srgbClr val="F5F5F5"/>
          </a:solidFill>
          <a:ln/>
          <a:effectLst>
            <a:outerShdw blurRad="762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457200" y="3634740"/>
            <a:ext cx="73152" cy="2189988"/>
          </a:xfrm>
          <a:prstGeom prst="rect">
            <a:avLst/>
          </a:prstGeom>
          <a:solidFill>
            <a:srgbClr val="97999B"/>
          </a:solidFill>
          <a:ln/>
        </p:spPr>
      </p:sp>
      <p:sp>
        <p:nvSpPr>
          <p:cNvPr id="16" name="Shape 14"/>
          <p:cNvSpPr/>
          <p:nvPr/>
        </p:nvSpPr>
        <p:spPr>
          <a:xfrm>
            <a:off x="685800" y="3771900"/>
            <a:ext cx="457200" cy="457200"/>
          </a:xfrm>
          <a:prstGeom prst="rect">
            <a:avLst/>
          </a:prstGeom>
          <a:solidFill>
            <a:srgbClr val="86BC25"/>
          </a:solidFill>
          <a:ln/>
        </p:spPr>
      </p:sp>
      <p:sp>
        <p:nvSpPr>
          <p:cNvPr id="17" name="Text 15"/>
          <p:cNvSpPr/>
          <p:nvPr/>
        </p:nvSpPr>
        <p:spPr>
          <a:xfrm>
            <a:off x="685800" y="377190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7</a:t>
            </a:r>
            <a:endParaRPr lang="en-US" sz="2000" dirty="0"/>
          </a:p>
        </p:txBody>
      </p:sp>
      <p:sp>
        <p:nvSpPr>
          <p:cNvPr id="18" name="Text 16"/>
          <p:cNvSpPr/>
          <p:nvPr/>
        </p:nvSpPr>
        <p:spPr>
          <a:xfrm>
            <a:off x="1371600" y="3726180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333333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Earthquake Sonifier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1371600" y="4018788"/>
            <a:ext cx="4572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86BC25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USGS Earthquake Catalog  ·  Free / Unlimited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1371600" y="4274820"/>
            <a:ext cx="5943600" cy="12755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33333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Turn seismic data into sound and minimalist animation — a "tectonic music box." Magnitude → pitch, depth → timbre, location → stereo field.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7894015" y="3726180"/>
            <a:ext cx="3657600" cy="2007108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22" name="Text 20"/>
          <p:cNvSpPr/>
          <p:nvPr/>
        </p:nvSpPr>
        <p:spPr>
          <a:xfrm>
            <a:off x="7985455" y="3771900"/>
            <a:ext cx="34747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86BC25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Business Case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7985455" y="4000500"/>
            <a:ext cx="3474720" cy="16413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33333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Educational installations, museum exhibits, data-art licensing, ambient experience product.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457200" y="5989320"/>
            <a:ext cx="11277295" cy="411480"/>
          </a:xfrm>
          <a:prstGeom prst="rect">
            <a:avLst/>
          </a:prstGeom>
          <a:solidFill>
            <a:srgbClr val="F5F5F5"/>
          </a:solidFill>
          <a:ln/>
        </p:spPr>
      </p:sp>
      <p:sp>
        <p:nvSpPr>
          <p:cNvPr id="25" name="Shape 23"/>
          <p:cNvSpPr/>
          <p:nvPr/>
        </p:nvSpPr>
        <p:spPr>
          <a:xfrm>
            <a:off x="457200" y="5989320"/>
            <a:ext cx="73152" cy="411480"/>
          </a:xfrm>
          <a:prstGeom prst="rect">
            <a:avLst/>
          </a:prstGeom>
          <a:solidFill>
            <a:srgbClr val="97999B"/>
          </a:solidFill>
          <a:ln/>
        </p:spPr>
      </p:sp>
      <p:sp>
        <p:nvSpPr>
          <p:cNvPr id="26" name="Text 24"/>
          <p:cNvSpPr/>
          <p:nvPr/>
        </p:nvSpPr>
        <p:spPr>
          <a:xfrm>
            <a:off x="640080" y="6080760"/>
            <a:ext cx="11094415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333333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CVE gamification drives patch compliance; earthquake sonification creates a new category of data experience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457200" y="649224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7999B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Source: Public API documentation review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11277295" y="649224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7999B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6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11277295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333333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Content discovery products monetize the world's open knowledge and cultural archives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457200" y="1234440"/>
            <a:ext cx="11277295" cy="27432"/>
          </a:xfrm>
          <a:prstGeom prst="rect">
            <a:avLst/>
          </a:prstGeom>
          <a:solidFill>
            <a:srgbClr val="333333"/>
          </a:solidFill>
          <a:ln/>
        </p:spPr>
      </p:sp>
      <p:sp>
        <p:nvSpPr>
          <p:cNvPr id="4" name="Shape 2"/>
          <p:cNvSpPr/>
          <p:nvPr/>
        </p:nvSpPr>
        <p:spPr>
          <a:xfrm>
            <a:off x="457200" y="1371600"/>
            <a:ext cx="11277295" cy="1435608"/>
          </a:xfrm>
          <a:prstGeom prst="rect">
            <a:avLst/>
          </a:prstGeom>
          <a:solidFill>
            <a:srgbClr val="F5F5F5"/>
          </a:solidFill>
          <a:ln/>
          <a:effectLst>
            <a:outerShdw blurRad="762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457200" y="1371600"/>
            <a:ext cx="73152" cy="1435608"/>
          </a:xfrm>
          <a:prstGeom prst="rect">
            <a:avLst/>
          </a:prstGeom>
          <a:solidFill>
            <a:srgbClr val="97999B"/>
          </a:solidFill>
          <a:ln/>
        </p:spPr>
      </p:sp>
      <p:sp>
        <p:nvSpPr>
          <p:cNvPr id="6" name="Shape 4"/>
          <p:cNvSpPr/>
          <p:nvPr/>
        </p:nvSpPr>
        <p:spPr>
          <a:xfrm>
            <a:off x="685800" y="1508760"/>
            <a:ext cx="457200" cy="457200"/>
          </a:xfrm>
          <a:prstGeom prst="rect">
            <a:avLst/>
          </a:prstGeom>
          <a:solidFill>
            <a:srgbClr val="86BC25"/>
          </a:solidFill>
          <a:ln/>
        </p:spPr>
      </p:sp>
      <p:sp>
        <p:nvSpPr>
          <p:cNvPr id="7" name="Text 5"/>
          <p:cNvSpPr/>
          <p:nvPr/>
        </p:nvSpPr>
        <p:spPr>
          <a:xfrm>
            <a:off x="685800" y="150876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8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1371600" y="1463040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333333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Book Genome Builder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1371600" y="1755648"/>
            <a:ext cx="4572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86BC25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Open Library Search API  ·  Free / Unlimited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1371600" y="2011680"/>
            <a:ext cx="5943600" cy="5212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33333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Build a family tree for any book: editions, translations, author networks, era clusters. Generate "adjacent-but-not-obvious" reading paths.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7894015" y="1463040"/>
            <a:ext cx="3657600" cy="1252728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2" name="Text 10"/>
          <p:cNvSpPr/>
          <p:nvPr/>
        </p:nvSpPr>
        <p:spPr>
          <a:xfrm>
            <a:off x="7985455" y="1508760"/>
            <a:ext cx="34747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86BC25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Business Case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7985455" y="1737360"/>
            <a:ext cx="3474720" cy="8869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33333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Publisher analytics, library recommendation engine, book subscription box curation tool.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457200" y="2880360"/>
            <a:ext cx="11277295" cy="1435608"/>
          </a:xfrm>
          <a:prstGeom prst="rect">
            <a:avLst/>
          </a:prstGeom>
          <a:solidFill>
            <a:srgbClr val="F5F5F5"/>
          </a:solidFill>
          <a:ln/>
          <a:effectLst>
            <a:outerShdw blurRad="762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457200" y="2880360"/>
            <a:ext cx="73152" cy="1435608"/>
          </a:xfrm>
          <a:prstGeom prst="rect">
            <a:avLst/>
          </a:prstGeom>
          <a:solidFill>
            <a:srgbClr val="97999B"/>
          </a:solidFill>
          <a:ln/>
        </p:spPr>
      </p:sp>
      <p:sp>
        <p:nvSpPr>
          <p:cNvPr id="16" name="Shape 14"/>
          <p:cNvSpPr/>
          <p:nvPr/>
        </p:nvSpPr>
        <p:spPr>
          <a:xfrm>
            <a:off x="685800" y="3017520"/>
            <a:ext cx="457200" cy="457200"/>
          </a:xfrm>
          <a:prstGeom prst="rect">
            <a:avLst/>
          </a:prstGeom>
          <a:solidFill>
            <a:srgbClr val="86BC25"/>
          </a:solidFill>
          <a:ln/>
        </p:spPr>
      </p:sp>
      <p:sp>
        <p:nvSpPr>
          <p:cNvPr id="17" name="Text 15"/>
          <p:cNvSpPr/>
          <p:nvPr/>
        </p:nvSpPr>
        <p:spPr>
          <a:xfrm>
            <a:off x="685800" y="301752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9</a:t>
            </a:r>
            <a:endParaRPr lang="en-US" sz="2000" dirty="0"/>
          </a:p>
        </p:txBody>
      </p:sp>
      <p:sp>
        <p:nvSpPr>
          <p:cNvPr id="18" name="Text 16"/>
          <p:cNvSpPr/>
          <p:nvPr/>
        </p:nvSpPr>
        <p:spPr>
          <a:xfrm>
            <a:off x="1371600" y="2971800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333333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Paper Frontier Radar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1371600" y="3264408"/>
            <a:ext cx="4572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86BC25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arXiv API  ·  Free / Rate-limited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1371600" y="3520440"/>
            <a:ext cx="5943600" cy="5212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33333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Detect emerging micro-topics inside arXiv categories by tracking new term co-occurrences. Produce a weekly "frontier map."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7894015" y="2971800"/>
            <a:ext cx="3657600" cy="1252728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22" name="Text 20"/>
          <p:cNvSpPr/>
          <p:nvPr/>
        </p:nvSpPr>
        <p:spPr>
          <a:xfrm>
            <a:off x="7985455" y="3017520"/>
            <a:ext cx="34747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86BC25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Business Case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7985455" y="3246120"/>
            <a:ext cx="3474720" cy="8869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33333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R&amp;D intelligence for tech companies, VC deal sourcing signal, academic trend forecasting.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457200" y="4389120"/>
            <a:ext cx="11277295" cy="1435608"/>
          </a:xfrm>
          <a:prstGeom prst="rect">
            <a:avLst/>
          </a:prstGeom>
          <a:solidFill>
            <a:srgbClr val="F5F5F5"/>
          </a:solidFill>
          <a:ln/>
          <a:effectLst>
            <a:outerShdw blurRad="762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457200" y="4389120"/>
            <a:ext cx="73152" cy="1435608"/>
          </a:xfrm>
          <a:prstGeom prst="rect">
            <a:avLst/>
          </a:prstGeom>
          <a:solidFill>
            <a:srgbClr val="97999B"/>
          </a:solidFill>
          <a:ln/>
        </p:spPr>
      </p:sp>
      <p:sp>
        <p:nvSpPr>
          <p:cNvPr id="26" name="Shape 24"/>
          <p:cNvSpPr/>
          <p:nvPr/>
        </p:nvSpPr>
        <p:spPr>
          <a:xfrm>
            <a:off x="685800" y="4526280"/>
            <a:ext cx="548640" cy="457200"/>
          </a:xfrm>
          <a:prstGeom prst="rect">
            <a:avLst/>
          </a:prstGeom>
          <a:solidFill>
            <a:srgbClr val="86BC25"/>
          </a:solidFill>
          <a:ln/>
        </p:spPr>
      </p:sp>
      <p:sp>
        <p:nvSpPr>
          <p:cNvPr id="27" name="Text 25"/>
          <p:cNvSpPr/>
          <p:nvPr/>
        </p:nvSpPr>
        <p:spPr>
          <a:xfrm>
            <a:off x="685800" y="4526280"/>
            <a:ext cx="548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10</a:t>
            </a:r>
            <a:endParaRPr lang="en-US" sz="2000" dirty="0"/>
          </a:p>
        </p:txBody>
      </p:sp>
      <p:sp>
        <p:nvSpPr>
          <p:cNvPr id="28" name="Text 26"/>
          <p:cNvSpPr/>
          <p:nvPr/>
        </p:nvSpPr>
        <p:spPr>
          <a:xfrm>
            <a:off x="1371600" y="4480560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333333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Museum Loot Generator</a:t>
            </a:r>
            <a:endParaRPr lang="en-US" sz="1600" dirty="0"/>
          </a:p>
        </p:txBody>
      </p:sp>
      <p:sp>
        <p:nvSpPr>
          <p:cNvPr id="29" name="Text 27"/>
          <p:cNvSpPr/>
          <p:nvPr/>
        </p:nvSpPr>
        <p:spPr>
          <a:xfrm>
            <a:off x="1371600" y="4773168"/>
            <a:ext cx="4572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86BC25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Met Collection / Smithsonian API  ·  Free / Unlimited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1371600" y="5029200"/>
            <a:ext cx="5943600" cy="5212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33333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Daily "loot drops" from museum collections with constraints: materials, era, place, color mood. Public-domain art discovery engine.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7894015" y="4480560"/>
            <a:ext cx="3657600" cy="1252728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2" name="Text 30"/>
          <p:cNvSpPr/>
          <p:nvPr/>
        </p:nvSpPr>
        <p:spPr>
          <a:xfrm>
            <a:off x="7985455" y="4526280"/>
            <a:ext cx="34747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86BC25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Business Case</a:t>
            </a:r>
            <a:endParaRPr lang="en-US" sz="1000" dirty="0"/>
          </a:p>
        </p:txBody>
      </p:sp>
      <p:sp>
        <p:nvSpPr>
          <p:cNvPr id="33" name="Text 31"/>
          <p:cNvSpPr/>
          <p:nvPr/>
        </p:nvSpPr>
        <p:spPr>
          <a:xfrm>
            <a:off x="7985455" y="4754880"/>
            <a:ext cx="3474720" cy="8869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33333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Content pipeline for media companies, print-on-demand integration, educational gamification.</a:t>
            </a:r>
            <a:endParaRPr lang="en-US" sz="1000" dirty="0"/>
          </a:p>
        </p:txBody>
      </p:sp>
      <p:sp>
        <p:nvSpPr>
          <p:cNvPr id="34" name="Shape 32"/>
          <p:cNvSpPr/>
          <p:nvPr/>
        </p:nvSpPr>
        <p:spPr>
          <a:xfrm>
            <a:off x="457200" y="5989320"/>
            <a:ext cx="11277295" cy="411480"/>
          </a:xfrm>
          <a:prstGeom prst="rect">
            <a:avLst/>
          </a:prstGeom>
          <a:solidFill>
            <a:srgbClr val="F5F5F5"/>
          </a:solidFill>
          <a:ln/>
        </p:spPr>
      </p:sp>
      <p:sp>
        <p:nvSpPr>
          <p:cNvPr id="35" name="Shape 33"/>
          <p:cNvSpPr/>
          <p:nvPr/>
        </p:nvSpPr>
        <p:spPr>
          <a:xfrm>
            <a:off x="457200" y="5989320"/>
            <a:ext cx="73152" cy="411480"/>
          </a:xfrm>
          <a:prstGeom prst="rect">
            <a:avLst/>
          </a:prstGeom>
          <a:solidFill>
            <a:srgbClr val="97999B"/>
          </a:solidFill>
          <a:ln/>
        </p:spPr>
      </p:sp>
      <p:sp>
        <p:nvSpPr>
          <p:cNvPr id="36" name="Text 34"/>
          <p:cNvSpPr/>
          <p:nvPr/>
        </p:nvSpPr>
        <p:spPr>
          <a:xfrm>
            <a:off x="640080" y="6080760"/>
            <a:ext cx="11094415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333333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Book genomes, research frontiers, and museum loot — content pipelines built on public-domain collections</a:t>
            </a:r>
            <a:endParaRPr lang="en-US" sz="1300" dirty="0"/>
          </a:p>
        </p:txBody>
      </p:sp>
      <p:sp>
        <p:nvSpPr>
          <p:cNvPr id="37" name="Text 35"/>
          <p:cNvSpPr/>
          <p:nvPr/>
        </p:nvSpPr>
        <p:spPr>
          <a:xfrm>
            <a:off x="457200" y="649224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7999B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Source: Public API documentation review</a:t>
            </a:r>
            <a:endParaRPr lang="en-US" sz="900" dirty="0"/>
          </a:p>
        </p:txBody>
      </p:sp>
      <p:sp>
        <p:nvSpPr>
          <p:cNvPr id="38" name="Text 36"/>
          <p:cNvSpPr/>
          <p:nvPr/>
        </p:nvSpPr>
        <p:spPr>
          <a:xfrm>
            <a:off x="11277295" y="649224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7999B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7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11277295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333333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Build complexity, revenue potential, and competitive moat vary across all ten ideas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457200" y="1234440"/>
            <a:ext cx="11277295" cy="27432"/>
          </a:xfrm>
          <a:prstGeom prst="rect">
            <a:avLst/>
          </a:prstGeom>
          <a:solidFill>
            <a:srgbClr val="333333"/>
          </a:solidFill>
          <a:ln/>
        </p:spPr>
      </p:sp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474726215"/>
              </p:ext>
            </p:extLst>
          </p:nvPr>
        </p:nvGraphicFramePr>
        <p:xfrm>
          <a:off x="457199" y="1371600"/>
          <a:ext cx="11277296" cy="4325112"/>
        </p:xfrm>
        <a:graphic>
          <a:graphicData uri="http://schemas.openxmlformats.org/drawingml/2006/table">
            <a:tbl>
              <a:tblPr/>
              <a:tblGrid>
                <a:gridCol w="429611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00727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28883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68507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288834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288834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1288834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393192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#</a:t>
                      </a:r>
                      <a:endParaRPr lang="en-US" sz="100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6BC2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Venture</a:t>
                      </a:r>
                      <a:endParaRPr lang="en-US" sz="100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6BC2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Category</a:t>
                      </a:r>
                      <a:endParaRPr lang="en-US" sz="100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6BC2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API</a:t>
                      </a:r>
                      <a:endParaRPr lang="en-US" sz="100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6BC2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Complexity</a:t>
                      </a:r>
                      <a:endParaRPr lang="en-US" sz="100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6BC2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Revenue</a:t>
                      </a:r>
                      <a:endParaRPr lang="en-US" sz="100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6BC2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Moat</a:t>
                      </a:r>
                      <a:endParaRPr lang="en-US" sz="100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6BC2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93192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333333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1</a:t>
                      </a:r>
                      <a:endParaRPr lang="en-US" sz="100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333333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Website Time-Lapse Detective</a:t>
                      </a:r>
                      <a:endParaRPr lang="en-US" sz="100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86BC25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Intelligence</a:t>
                      </a:r>
                      <a:endParaRPr lang="en-US" sz="100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97999B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Wayback CDX API</a:t>
                      </a:r>
                      <a:endParaRPr lang="en-US" sz="90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86BC25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Medium</a:t>
                      </a:r>
                      <a:endParaRPr lang="en-US" sz="100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86BC25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High</a:t>
                      </a:r>
                      <a:endParaRPr lang="en-US" sz="100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86BC25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Medium</a:t>
                      </a:r>
                      <a:endParaRPr lang="en-US" sz="100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93192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333333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2</a:t>
                      </a:r>
                      <a:endParaRPr lang="en-US" sz="100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333333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Invisible City Atlas</a:t>
                      </a:r>
                      <a:endParaRPr lang="en-US" sz="100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86BC25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Civic Tech</a:t>
                      </a:r>
                      <a:endParaRPr lang="en-US" sz="100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97999B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Overpass API (OSM)</a:t>
                      </a:r>
                      <a:endParaRPr lang="en-US" sz="90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86BC25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Medium</a:t>
                      </a:r>
                      <a:endParaRPr lang="en-US" sz="100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86BC25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Medium</a:t>
                      </a:r>
                      <a:endParaRPr lang="en-US" sz="100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86BC25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High</a:t>
                      </a:r>
                      <a:endParaRPr lang="en-US" sz="100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93192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333333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3</a:t>
                      </a:r>
                      <a:endParaRPr lang="en-US" sz="100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333333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Regulation Diff Bot</a:t>
                      </a:r>
                      <a:endParaRPr lang="en-US" sz="100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86BC25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Compliance</a:t>
                      </a:r>
                      <a:endParaRPr lang="en-US" sz="100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97999B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Federal Register API</a:t>
                      </a:r>
                      <a:endParaRPr lang="en-US" sz="90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97999B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Low</a:t>
                      </a:r>
                      <a:endParaRPr lang="en-US" sz="100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86BC25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High</a:t>
                      </a:r>
                      <a:endParaRPr lang="en-US" sz="100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86BC25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Medium</a:t>
                      </a:r>
                      <a:endParaRPr lang="en-US" sz="100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93192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333333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4</a:t>
                      </a:r>
                      <a:endParaRPr lang="en-US" sz="100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333333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Wikipedia Attention Weather</a:t>
                      </a:r>
                      <a:endParaRPr lang="en-US" sz="100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86BC25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Media Intel</a:t>
                      </a:r>
                      <a:endParaRPr lang="en-US" sz="100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97999B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Wikimedia Pageviews API</a:t>
                      </a:r>
                      <a:endParaRPr lang="en-US" sz="90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86BC25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High</a:t>
                      </a:r>
                      <a:endParaRPr lang="en-US" sz="100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86BC25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Medium</a:t>
                      </a:r>
                      <a:endParaRPr lang="en-US" sz="100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86BC25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High</a:t>
                      </a:r>
                      <a:endParaRPr lang="en-US" sz="100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93192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333333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5</a:t>
                      </a:r>
                      <a:endParaRPr lang="en-US" sz="100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333333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Narrative Drift Observatory</a:t>
                      </a:r>
                      <a:endParaRPr lang="en-US" sz="100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86BC25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Media Intel</a:t>
                      </a:r>
                      <a:endParaRPr lang="en-US" sz="100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97999B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GDELT APIs</a:t>
                      </a:r>
                      <a:endParaRPr lang="en-US" sz="90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86BC25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High</a:t>
                      </a:r>
                      <a:endParaRPr lang="en-US" sz="100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86BC25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High</a:t>
                      </a:r>
                      <a:endParaRPr lang="en-US" sz="100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86BC25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High</a:t>
                      </a:r>
                      <a:endParaRPr lang="en-US" sz="100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93192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333333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6</a:t>
                      </a:r>
                      <a:endParaRPr lang="en-US" sz="100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333333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CVE Dungeon Crawl</a:t>
                      </a:r>
                      <a:endParaRPr lang="en-US" sz="100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86BC25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Security</a:t>
                      </a:r>
                      <a:endParaRPr lang="en-US" sz="100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97999B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NVD Vulnerability + CPE APIs</a:t>
                      </a:r>
                      <a:endParaRPr lang="en-US" sz="90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86BC25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Medium</a:t>
                      </a:r>
                      <a:endParaRPr lang="en-US" sz="100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86BC25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High</a:t>
                      </a:r>
                      <a:endParaRPr lang="en-US" sz="100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86BC25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Medium</a:t>
                      </a:r>
                      <a:endParaRPr lang="en-US" sz="100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93192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333333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7</a:t>
                      </a:r>
                      <a:endParaRPr lang="en-US" sz="100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333333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Earthquake Sonifier</a:t>
                      </a:r>
                      <a:endParaRPr lang="en-US" sz="100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86BC25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Experience</a:t>
                      </a:r>
                      <a:endParaRPr lang="en-US" sz="100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97999B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USGS Earthquake Catalog</a:t>
                      </a:r>
                      <a:endParaRPr lang="en-US" sz="90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86BC25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Medium</a:t>
                      </a:r>
                      <a:endParaRPr lang="en-US" sz="100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97999B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Low</a:t>
                      </a:r>
                      <a:endParaRPr lang="en-US" sz="100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97999B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Low</a:t>
                      </a:r>
                      <a:endParaRPr lang="en-US" sz="100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93192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333333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8</a:t>
                      </a:r>
                      <a:endParaRPr lang="en-US" sz="100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333333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Book Genome Builder</a:t>
                      </a:r>
                      <a:endParaRPr lang="en-US" sz="100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86BC25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Discovery</a:t>
                      </a:r>
                      <a:endParaRPr lang="en-US" sz="100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97999B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Open Library Search API</a:t>
                      </a:r>
                      <a:endParaRPr lang="en-US" sz="90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86BC25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Medium</a:t>
                      </a:r>
                      <a:endParaRPr lang="en-US" sz="100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86BC25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Medium</a:t>
                      </a:r>
                      <a:endParaRPr lang="en-US" sz="100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86BC25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Medium</a:t>
                      </a:r>
                      <a:endParaRPr lang="en-US" sz="100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393192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333333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9</a:t>
                      </a:r>
                      <a:endParaRPr lang="en-US" sz="100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333333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Paper Frontier Radar</a:t>
                      </a:r>
                      <a:endParaRPr lang="en-US" sz="100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86BC25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Research</a:t>
                      </a:r>
                      <a:endParaRPr lang="en-US" sz="100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97999B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arXiv API</a:t>
                      </a:r>
                      <a:endParaRPr lang="en-US" sz="90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86BC25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High</a:t>
                      </a:r>
                      <a:endParaRPr lang="en-US" sz="100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86BC25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Medium</a:t>
                      </a:r>
                      <a:endParaRPr lang="en-US" sz="100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86BC25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High</a:t>
                      </a:r>
                      <a:endParaRPr lang="en-US" sz="100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393192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333333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10</a:t>
                      </a:r>
                      <a:endParaRPr lang="en-US" sz="100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333333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Museum Loot Generator</a:t>
                      </a:r>
                      <a:endParaRPr lang="en-US" sz="100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86BC25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Culture</a:t>
                      </a:r>
                      <a:endParaRPr lang="en-US" sz="100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97999B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Met Collection / Smithsonian API</a:t>
                      </a:r>
                      <a:endParaRPr lang="en-US" sz="90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97999B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Low</a:t>
                      </a:r>
                      <a:endParaRPr lang="en-US" sz="100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86BC25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Medium</a:t>
                      </a:r>
                      <a:endParaRPr lang="en-US" sz="100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97999B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Low</a:t>
                      </a:r>
                      <a:endParaRPr lang="en-US" sz="100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</a:tbl>
          </a:graphicData>
        </a:graphic>
      </p:graphicFrame>
      <p:sp>
        <p:nvSpPr>
          <p:cNvPr id="5" name="Shape 2"/>
          <p:cNvSpPr/>
          <p:nvPr/>
        </p:nvSpPr>
        <p:spPr>
          <a:xfrm>
            <a:off x="457200" y="5989320"/>
            <a:ext cx="11277295" cy="411480"/>
          </a:xfrm>
          <a:prstGeom prst="rect">
            <a:avLst/>
          </a:prstGeom>
          <a:solidFill>
            <a:srgbClr val="F5F5F5"/>
          </a:solidFill>
          <a:ln/>
        </p:spPr>
      </p:sp>
      <p:sp>
        <p:nvSpPr>
          <p:cNvPr id="6" name="Shape 3"/>
          <p:cNvSpPr/>
          <p:nvPr/>
        </p:nvSpPr>
        <p:spPr>
          <a:xfrm>
            <a:off x="457200" y="5989320"/>
            <a:ext cx="73152" cy="411480"/>
          </a:xfrm>
          <a:prstGeom prst="rect">
            <a:avLst/>
          </a:prstGeom>
          <a:solidFill>
            <a:srgbClr val="97999B"/>
          </a:solidFill>
          <a:ln/>
        </p:spPr>
      </p:sp>
      <p:sp>
        <p:nvSpPr>
          <p:cNvPr id="7" name="Text 4"/>
          <p:cNvSpPr/>
          <p:nvPr/>
        </p:nvSpPr>
        <p:spPr>
          <a:xfrm>
            <a:off x="640080" y="6080760"/>
            <a:ext cx="11094415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333333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Three ideas score High on both revenue potential and competitive moat: Narrative Drift, Paper Frontier, and Invisible City</a:t>
            </a:r>
            <a:endParaRPr lang="en-US" sz="1300" dirty="0"/>
          </a:p>
        </p:txBody>
      </p:sp>
      <p:sp>
        <p:nvSpPr>
          <p:cNvPr id="8" name="Text 5"/>
          <p:cNvSpPr/>
          <p:nvPr/>
        </p:nvSpPr>
        <p:spPr>
          <a:xfrm>
            <a:off x="457200" y="649224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7999B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Source: Qualitative assessment based on API maturity, market size, and differentiation potential</a:t>
            </a:r>
            <a:endParaRPr lang="en-US" sz="900" dirty="0"/>
          </a:p>
        </p:txBody>
      </p:sp>
      <p:sp>
        <p:nvSpPr>
          <p:cNvPr id="4" name="Text 6"/>
          <p:cNvSpPr/>
          <p:nvPr/>
        </p:nvSpPr>
        <p:spPr>
          <a:xfrm>
            <a:off x="11277295" y="649224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7999B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8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11277295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333333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Three ventures to prototype first, with a 90-day validation plan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457200" y="1234440"/>
            <a:ext cx="11277295" cy="27432"/>
          </a:xfrm>
          <a:prstGeom prst="rect">
            <a:avLst/>
          </a:prstGeom>
          <a:solidFill>
            <a:srgbClr val="333333"/>
          </a:solidFill>
          <a:ln/>
        </p:spPr>
      </p:sp>
      <p:sp>
        <p:nvSpPr>
          <p:cNvPr id="4" name="Shape 2"/>
          <p:cNvSpPr/>
          <p:nvPr/>
        </p:nvSpPr>
        <p:spPr>
          <a:xfrm>
            <a:off x="457200" y="1371600"/>
            <a:ext cx="3566160" cy="2743200"/>
          </a:xfrm>
          <a:prstGeom prst="rect">
            <a:avLst/>
          </a:prstGeom>
          <a:solidFill>
            <a:srgbClr val="F5F5F5"/>
          </a:solidFill>
          <a:ln/>
          <a:effectLst>
            <a:outerShdw blurRad="762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457200" y="1371600"/>
            <a:ext cx="3566160" cy="54864"/>
          </a:xfrm>
          <a:prstGeom prst="rect">
            <a:avLst/>
          </a:prstGeom>
          <a:solidFill>
            <a:srgbClr val="97999B"/>
          </a:solidFill>
          <a:ln/>
        </p:spPr>
      </p:sp>
      <p:sp>
        <p:nvSpPr>
          <p:cNvPr id="6" name="Shape 4"/>
          <p:cNvSpPr/>
          <p:nvPr/>
        </p:nvSpPr>
        <p:spPr>
          <a:xfrm>
            <a:off x="640080" y="1600200"/>
            <a:ext cx="411480" cy="411480"/>
          </a:xfrm>
          <a:prstGeom prst="rect">
            <a:avLst/>
          </a:prstGeom>
          <a:solidFill>
            <a:srgbClr val="86BC25"/>
          </a:solidFill>
          <a:ln/>
        </p:spPr>
      </p:sp>
      <p:sp>
        <p:nvSpPr>
          <p:cNvPr id="7" name="Text 5"/>
          <p:cNvSpPr/>
          <p:nvPr/>
        </p:nvSpPr>
        <p:spPr>
          <a:xfrm>
            <a:off x="640080" y="1600200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3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1188720" y="1600200"/>
            <a:ext cx="25603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333333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Regulation Diff Bot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731520" y="2194560"/>
            <a:ext cx="301752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33333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Lowest build complexity + highest revenue potential. Compliance SaaS has proven willingness to pay. MVP in 2-3 weeks.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4297680" y="1371600"/>
            <a:ext cx="3566160" cy="2743200"/>
          </a:xfrm>
          <a:prstGeom prst="rect">
            <a:avLst/>
          </a:prstGeom>
          <a:solidFill>
            <a:srgbClr val="F5F5F5"/>
          </a:solidFill>
          <a:ln/>
          <a:effectLst>
            <a:outerShdw blurRad="762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4297680" y="1371600"/>
            <a:ext cx="3566160" cy="54864"/>
          </a:xfrm>
          <a:prstGeom prst="rect">
            <a:avLst/>
          </a:prstGeom>
          <a:solidFill>
            <a:srgbClr val="97999B"/>
          </a:solidFill>
          <a:ln/>
        </p:spPr>
      </p:sp>
      <p:sp>
        <p:nvSpPr>
          <p:cNvPr id="12" name="Shape 10"/>
          <p:cNvSpPr/>
          <p:nvPr/>
        </p:nvSpPr>
        <p:spPr>
          <a:xfrm>
            <a:off x="4480560" y="1600200"/>
            <a:ext cx="411480" cy="411480"/>
          </a:xfrm>
          <a:prstGeom prst="rect">
            <a:avLst/>
          </a:prstGeom>
          <a:solidFill>
            <a:srgbClr val="86BC25"/>
          </a:solidFill>
          <a:ln/>
        </p:spPr>
      </p:sp>
      <p:sp>
        <p:nvSpPr>
          <p:cNvPr id="13" name="Text 11"/>
          <p:cNvSpPr/>
          <p:nvPr/>
        </p:nvSpPr>
        <p:spPr>
          <a:xfrm>
            <a:off x="4480560" y="1600200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5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5029200" y="1600200"/>
            <a:ext cx="25603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333333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Narrative Drift Observatory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4572000" y="2194560"/>
            <a:ext cx="301752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33333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Highest moat + highest revenue. GDELT data is rich but hard to productize — first mover advantage. MVP in 6-8 weeks.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8138160" y="1371600"/>
            <a:ext cx="3566160" cy="2743200"/>
          </a:xfrm>
          <a:prstGeom prst="rect">
            <a:avLst/>
          </a:prstGeom>
          <a:solidFill>
            <a:srgbClr val="F5F5F5"/>
          </a:solidFill>
          <a:ln/>
          <a:effectLst>
            <a:outerShdw blurRad="762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8138160" y="1371600"/>
            <a:ext cx="3566160" cy="54864"/>
          </a:xfrm>
          <a:prstGeom prst="rect">
            <a:avLst/>
          </a:prstGeom>
          <a:solidFill>
            <a:srgbClr val="97999B"/>
          </a:solidFill>
          <a:ln/>
        </p:spPr>
      </p:sp>
      <p:sp>
        <p:nvSpPr>
          <p:cNvPr id="18" name="Shape 16"/>
          <p:cNvSpPr/>
          <p:nvPr/>
        </p:nvSpPr>
        <p:spPr>
          <a:xfrm>
            <a:off x="8321040" y="1600200"/>
            <a:ext cx="411480" cy="411480"/>
          </a:xfrm>
          <a:prstGeom prst="rect">
            <a:avLst/>
          </a:prstGeom>
          <a:solidFill>
            <a:srgbClr val="86BC25"/>
          </a:solidFill>
          <a:ln/>
        </p:spPr>
      </p:sp>
      <p:sp>
        <p:nvSpPr>
          <p:cNvPr id="19" name="Text 17"/>
          <p:cNvSpPr/>
          <p:nvPr/>
        </p:nvSpPr>
        <p:spPr>
          <a:xfrm>
            <a:off x="8321040" y="1600200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6</a:t>
            </a:r>
            <a:endParaRPr lang="en-US" sz="1800" dirty="0"/>
          </a:p>
        </p:txBody>
      </p:sp>
      <p:sp>
        <p:nvSpPr>
          <p:cNvPr id="20" name="Text 18"/>
          <p:cNvSpPr/>
          <p:nvPr/>
        </p:nvSpPr>
        <p:spPr>
          <a:xfrm>
            <a:off x="8869680" y="1600200"/>
            <a:ext cx="25603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333333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CVE Dungeon Crawl</a:t>
            </a:r>
            <a:endParaRPr lang="en-US" sz="1500" dirty="0"/>
          </a:p>
        </p:txBody>
      </p:sp>
      <p:sp>
        <p:nvSpPr>
          <p:cNvPr id="21" name="Text 19"/>
          <p:cNvSpPr/>
          <p:nvPr/>
        </p:nvSpPr>
        <p:spPr>
          <a:xfrm>
            <a:off x="8412480" y="2194560"/>
            <a:ext cx="301752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33333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Novel engagement model in a $4B+ market. Gamification drives retention. Strong virality potential within security teams. MVP in 4-6 weeks.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457200" y="4389120"/>
            <a:ext cx="11277295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86BC25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90-Day Validation Plan</a:t>
            </a:r>
            <a:endParaRPr lang="en-US" sz="1600" dirty="0"/>
          </a:p>
        </p:txBody>
      </p:sp>
      <p:sp>
        <p:nvSpPr>
          <p:cNvPr id="23" name="Shape 21"/>
          <p:cNvSpPr/>
          <p:nvPr/>
        </p:nvSpPr>
        <p:spPr>
          <a:xfrm>
            <a:off x="457200" y="4800600"/>
            <a:ext cx="3566160" cy="1005840"/>
          </a:xfrm>
          <a:prstGeom prst="rect">
            <a:avLst/>
          </a:prstGeom>
          <a:solidFill>
            <a:srgbClr val="F5F5F5"/>
          </a:solidFill>
          <a:ln/>
        </p:spPr>
      </p:sp>
      <p:sp>
        <p:nvSpPr>
          <p:cNvPr id="24" name="Text 22"/>
          <p:cNvSpPr/>
          <p:nvPr/>
        </p:nvSpPr>
        <p:spPr>
          <a:xfrm>
            <a:off x="640080" y="4846320"/>
            <a:ext cx="3200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86BC25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Weeks 1–3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640080" y="5120640"/>
            <a:ext cx="3200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33333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Build Regulation Diff Bot MVP. Validate with 5 compliance teams. Measure engagement and willingness to pay.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4297680" y="4800600"/>
            <a:ext cx="3566160" cy="1005840"/>
          </a:xfrm>
          <a:prstGeom prst="rect">
            <a:avLst/>
          </a:prstGeom>
          <a:solidFill>
            <a:srgbClr val="F5F5F5"/>
          </a:solidFill>
          <a:ln/>
        </p:spPr>
      </p:sp>
      <p:sp>
        <p:nvSpPr>
          <p:cNvPr id="27" name="Text 25"/>
          <p:cNvSpPr/>
          <p:nvPr/>
        </p:nvSpPr>
        <p:spPr>
          <a:xfrm>
            <a:off x="4480560" y="4846320"/>
            <a:ext cx="3200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86BC25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Weeks 4–8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4480560" y="5120640"/>
            <a:ext cx="3200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33333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Build Narrative Drift Observatory prototype. Partner with 1 PR agency for pilot. Measure framing detection accuracy.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8138160" y="4800600"/>
            <a:ext cx="3566160" cy="1005840"/>
          </a:xfrm>
          <a:prstGeom prst="rect">
            <a:avLst/>
          </a:prstGeom>
          <a:solidFill>
            <a:srgbClr val="F5F5F5"/>
          </a:solidFill>
          <a:ln/>
        </p:spPr>
      </p:sp>
      <p:sp>
        <p:nvSpPr>
          <p:cNvPr id="30" name="Text 28"/>
          <p:cNvSpPr/>
          <p:nvPr/>
        </p:nvSpPr>
        <p:spPr>
          <a:xfrm>
            <a:off x="8321040" y="4846320"/>
            <a:ext cx="3200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86BC25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Weeks 6–12</a:t>
            </a:r>
            <a:endParaRPr lang="en-US" sz="1200" dirty="0"/>
          </a:p>
        </p:txBody>
      </p:sp>
      <p:sp>
        <p:nvSpPr>
          <p:cNvPr id="31" name="Text 29"/>
          <p:cNvSpPr/>
          <p:nvPr/>
        </p:nvSpPr>
        <p:spPr>
          <a:xfrm>
            <a:off x="8321040" y="5120640"/>
            <a:ext cx="3200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33333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Build CVE Dungeon Crawl alpha. Run internal pilot with 3 engineering teams. Measure patch time improvement.</a:t>
            </a:r>
            <a:endParaRPr lang="en-US" sz="1000" dirty="0"/>
          </a:p>
        </p:txBody>
      </p:sp>
      <p:sp>
        <p:nvSpPr>
          <p:cNvPr id="32" name="Shape 30"/>
          <p:cNvSpPr/>
          <p:nvPr/>
        </p:nvSpPr>
        <p:spPr>
          <a:xfrm>
            <a:off x="457200" y="5989320"/>
            <a:ext cx="11277295" cy="411480"/>
          </a:xfrm>
          <a:prstGeom prst="rect">
            <a:avLst/>
          </a:prstGeom>
          <a:solidFill>
            <a:srgbClr val="F5F5F5"/>
          </a:solidFill>
          <a:ln/>
        </p:spPr>
      </p:sp>
      <p:sp>
        <p:nvSpPr>
          <p:cNvPr id="33" name="Shape 31"/>
          <p:cNvSpPr/>
          <p:nvPr/>
        </p:nvSpPr>
        <p:spPr>
          <a:xfrm>
            <a:off x="457200" y="5989320"/>
            <a:ext cx="73152" cy="411480"/>
          </a:xfrm>
          <a:prstGeom prst="rect">
            <a:avLst/>
          </a:prstGeom>
          <a:solidFill>
            <a:srgbClr val="97999B"/>
          </a:solidFill>
          <a:ln/>
        </p:spPr>
      </p:sp>
      <p:sp>
        <p:nvSpPr>
          <p:cNvPr id="34" name="Text 32"/>
          <p:cNvSpPr/>
          <p:nvPr/>
        </p:nvSpPr>
        <p:spPr>
          <a:xfrm>
            <a:off x="640080" y="6080760"/>
            <a:ext cx="11094415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333333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Start with Regulation Diff Bot — lowest risk, fastest validation, clearest path to revenue</a:t>
            </a:r>
            <a:endParaRPr lang="en-US" sz="1300" dirty="0"/>
          </a:p>
        </p:txBody>
      </p:sp>
      <p:sp>
        <p:nvSpPr>
          <p:cNvPr id="35" name="Text 33"/>
          <p:cNvSpPr/>
          <p:nvPr/>
        </p:nvSpPr>
        <p:spPr>
          <a:xfrm>
            <a:off x="457200" y="649224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7999B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Source: Build complexity and market analysis</a:t>
            </a:r>
            <a:endParaRPr lang="en-US" sz="900" dirty="0"/>
          </a:p>
        </p:txBody>
      </p:sp>
      <p:sp>
        <p:nvSpPr>
          <p:cNvPr id="36" name="Text 34"/>
          <p:cNvSpPr/>
          <p:nvPr/>
        </p:nvSpPr>
        <p:spPr>
          <a:xfrm>
            <a:off x="11277295" y="649224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7999B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9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1302</Words>
  <Application>Microsoft Macintosh PowerPoint</Application>
  <PresentationFormat>Widescreen</PresentationFormat>
  <Paragraphs>251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Open Sans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10 Business Opportunities Powered by Open-Source APIs</dc:title>
  <dc:subject>PptxGenJS Presentation</dc:subject>
  <dc:creator>API Ventures</dc:creator>
  <cp:lastModifiedBy>Lara Srinath</cp:lastModifiedBy>
  <cp:revision>2</cp:revision>
  <dcterms:created xsi:type="dcterms:W3CDTF">2026-02-15T05:53:36Z</dcterms:created>
  <dcterms:modified xsi:type="dcterms:W3CDTF">2026-02-15T05:55:09Z</dcterms:modified>
</cp:coreProperties>
</file>