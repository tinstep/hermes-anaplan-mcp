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003A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FY24 (Actual)</c:v>
                  </c:pt>
                  <c:pt idx="1">
                    <c:v>FY25 (Actual)</c:v>
                  </c:pt>
                  <c:pt idx="2">
                    <c:v>FY26 (Forecast)</c:v>
                  </c:pt>
                  <c:pt idx="3">
                    <c:v>FY27 (Forecast)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12200</c:v>
                </c:pt>
                <c:pt idx="1">
                  <c:v>11800</c:v>
                </c:pt>
                <c:pt idx="2">
                  <c:v>18300</c:v>
                </c:pt>
                <c:pt idx="3">
                  <c:v>17700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FY24</c:v>
                </c:pt>
              </c:strCache>
            </c:strRef>
          </c:tx>
          <c:spPr>
            <a:solidFill>
              <a:srgbClr val="C0C5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3600</c:v>
                </c:pt>
                <c:pt idx="1">
                  <c:v>2200</c:v>
                </c:pt>
                <c:pt idx="2">
                  <c:v>2800</c:v>
                </c:pt>
                <c:pt idx="3">
                  <c:v>3600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</c:v>
                </c:pt>
              </c:strCache>
            </c:strRef>
          </c:tx>
          <c:spPr>
            <a:solidFill>
              <a:srgbClr val="003A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3400</c:v>
                </c:pt>
                <c:pt idx="1">
                  <c:v>3000</c:v>
                </c:pt>
                <c:pt idx="2">
                  <c:v>2400</c:v>
                </c:pt>
                <c:pt idx="3">
                  <c:v>3000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FY26 (F)</c:v>
                </c:pt>
              </c:strCache>
            </c:strRef>
          </c:tx>
          <c:spPr>
            <a:solidFill>
              <a:srgbClr val="0085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5400</c:v>
                </c:pt>
                <c:pt idx="1">
                  <c:v>3300</c:v>
                </c:pt>
                <c:pt idx="2">
                  <c:v>4200</c:v>
                </c:pt>
                <c:pt idx="3">
                  <c:v>5400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FY27 (F)</c:v>
                </c:pt>
              </c:strCache>
            </c:strRef>
          </c:tx>
          <c:spPr>
            <a:solidFill>
              <a:srgbClr val="005D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5100</c:v>
                </c:pt>
                <c:pt idx="1">
                  <c:v>4500</c:v>
                </c:pt>
                <c:pt idx="2">
                  <c:v>3600</c:v>
                </c:pt>
                <c:pt idx="3">
                  <c:v>4500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FY24 (Actual)</c:v>
                </c:pt>
              </c:strCache>
            </c:strRef>
          </c:tx>
          <c:spPr>
            <a:solidFill>
              <a:srgbClr val="C0C5C9"/>
            </a:solidFill>
            <a:ln w="31750" cap="flat">
              <a:solidFill>
                <a:srgbClr val="C0C5C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C5C9"/>
              </a:solidFill>
              <a:ln w="9525" cap="flat">
                <a:solidFill>
                  <a:srgbClr val="C0C5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600</c:v>
                </c:pt>
                <c:pt idx="1">
                  <c:v>1800</c:v>
                </c:pt>
                <c:pt idx="2">
                  <c:v>1200</c:v>
                </c:pt>
                <c:pt idx="3">
                  <c:v>400</c:v>
                </c:pt>
                <c:pt idx="4">
                  <c:v>800</c:v>
                </c:pt>
                <c:pt idx="5">
                  <c:v>1000</c:v>
                </c:pt>
                <c:pt idx="6">
                  <c:v>1000</c:v>
                </c:pt>
                <c:pt idx="7">
                  <c:v>1200</c:v>
                </c:pt>
                <c:pt idx="8">
                  <c:v>600</c:v>
                </c:pt>
                <c:pt idx="9">
                  <c:v>200</c:v>
                </c:pt>
                <c:pt idx="10">
                  <c:v>2000</c:v>
                </c:pt>
                <c:pt idx="11">
                  <c:v>1400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 (Actual)</c:v>
                </c:pt>
              </c:strCache>
            </c:strRef>
          </c:tx>
          <c:spPr>
            <a:solidFill>
              <a:srgbClr val="003A70"/>
            </a:solidFill>
            <a:ln w="31750" cap="flat">
              <a:solidFill>
                <a:srgbClr val="003A7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A70"/>
              </a:solidFill>
              <a:ln w="9525" cap="flat">
                <a:solidFill>
                  <a:srgbClr val="003A7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600</c:v>
                </c:pt>
                <c:pt idx="1">
                  <c:v>1200</c:v>
                </c:pt>
                <c:pt idx="2">
                  <c:v>1600</c:v>
                </c:pt>
                <c:pt idx="3">
                  <c:v>0</c:v>
                </c:pt>
                <c:pt idx="4">
                  <c:v>1600</c:v>
                </c:pt>
                <c:pt idx="5">
                  <c:v>1400</c:v>
                </c:pt>
                <c:pt idx="6">
                  <c:v>1600</c:v>
                </c:pt>
                <c:pt idx="7">
                  <c:v>600</c:v>
                </c:pt>
                <c:pt idx="8">
                  <c:v>200</c:v>
                </c:pt>
                <c:pt idx="9">
                  <c:v>800</c:v>
                </c:pt>
                <c:pt idx="10">
                  <c:v>1800</c:v>
                </c:pt>
                <c:pt idx="11">
                  <c:v>400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FY26 (Forecast)</c:v>
                </c:pt>
              </c:strCache>
            </c:strRef>
          </c:tx>
          <c:spPr>
            <a:solidFill>
              <a:srgbClr val="00857C"/>
            </a:solidFill>
            <a:ln w="31750" cap="flat">
              <a:solidFill>
                <a:srgbClr val="00857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857C"/>
              </a:solidFill>
              <a:ln w="9525" cap="flat">
                <a:solidFill>
                  <a:srgbClr val="00857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900</c:v>
                </c:pt>
                <c:pt idx="1">
                  <c:v>2700</c:v>
                </c:pt>
                <c:pt idx="2">
                  <c:v>1800</c:v>
                </c:pt>
                <c:pt idx="3">
                  <c:v>600</c:v>
                </c:pt>
                <c:pt idx="4">
                  <c:v>1200</c:v>
                </c:pt>
                <c:pt idx="5">
                  <c:v>1500</c:v>
                </c:pt>
                <c:pt idx="6">
                  <c:v>1500</c:v>
                </c:pt>
                <c:pt idx="7">
                  <c:v>1800</c:v>
                </c:pt>
                <c:pt idx="8">
                  <c:v>900</c:v>
                </c:pt>
                <c:pt idx="9">
                  <c:v>300</c:v>
                </c:pt>
                <c:pt idx="10">
                  <c:v>3000</c:v>
                </c:pt>
                <c:pt idx="11">
                  <c:v>2100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A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0"/>
            <a:ext cx="1146017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FY26 Sales Forecast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365760" y="2926080"/>
            <a:ext cx="114601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Pro  |  Acme Corporation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3657600"/>
            <a:ext cx="36576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931920"/>
            <a:ext cx="114601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C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Planning Team Review  |  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601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Laptop Pro forecast projects 18,300 units in FY26, a 55% increase over FY25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11460175" cy="27432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0"/>
            <a:ext cx="3566160" cy="27432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645920"/>
            <a:ext cx="3566160" cy="5486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 Actual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11,800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sold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-3.3% vs FY24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12768" y="1645920"/>
            <a:ext cx="3566160" cy="27432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2768" y="1645920"/>
            <a:ext cx="3566160" cy="54864"/>
          </a:xfrm>
          <a:prstGeom prst="rect">
            <a:avLst/>
          </a:prstGeom>
          <a:solidFill>
            <a:srgbClr val="00857C"/>
          </a:solidFill>
          <a:ln/>
        </p:spPr>
      </p:sp>
      <p:sp>
        <p:nvSpPr>
          <p:cNvPr id="12" name="Text 10"/>
          <p:cNvSpPr/>
          <p:nvPr/>
        </p:nvSpPr>
        <p:spPr>
          <a:xfrm>
            <a:off x="4587088" y="1874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 Forecast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87088" y="21945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18,300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587088" y="2880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projected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87088" y="3246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+55.1% vs FY25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59775" y="1645920"/>
            <a:ext cx="3566160" cy="27432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59775" y="1645920"/>
            <a:ext cx="3566160" cy="5486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8" name="Text 16"/>
          <p:cNvSpPr/>
          <p:nvPr/>
        </p:nvSpPr>
        <p:spPr>
          <a:xfrm>
            <a:off x="8534095" y="1874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FY27 Outlook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34095" y="21945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17,700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534095" y="2880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projected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34095" y="3246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-3.3% vs FY26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114601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1.5x growth multiplier applied to FY24 actuals produces a strong FY26 forecast, but FY25's slight decline signals potential seasonality risk that warrants monitoring.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5806440"/>
            <a:ext cx="11460175" cy="411480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5806440"/>
            <a:ext cx="73152" cy="41148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8978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 represents the strongest projected year for Laptop Pro at Acme Corporation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601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sales trajectory shows 55% growth from FY25 to FY26 forecast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11460175" cy="27432"/>
          </a:xfrm>
          <a:prstGeom prst="rect">
            <a:avLst/>
          </a:prstGeom>
          <a:solidFill>
            <a:srgbClr val="003A70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365760" y="1645920"/>
          <a:ext cx="7772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645920"/>
            <a:ext cx="3200400" cy="4297680"/>
          </a:xfrm>
          <a:prstGeom prst="rect">
            <a:avLst>
              <a:gd name="adj" fmla="val 285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12480" y="1645920"/>
            <a:ext cx="54864" cy="429768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Analysis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0" y="2377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FY24 → FY25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-3.3%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86800" y="2880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Slight decline in historical sales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0" y="3337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 → FY26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+55.1%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68680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growth from 1.5x multiplier on FY24 base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686800" y="4297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 → FY27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-3.3%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68680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Mirrors FY24-FY25 decline pattern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686800" y="5257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Quarter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86800" y="5486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686800" y="5760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Consistently strongest quarter across all years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65760" y="5806440"/>
            <a:ext cx="1146017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Shape 18"/>
          <p:cNvSpPr/>
          <p:nvPr/>
        </p:nvSpPr>
        <p:spPr>
          <a:xfrm>
            <a:off x="365760" y="5806440"/>
            <a:ext cx="73152" cy="41148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58978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methodology applies a 1.5x multiplier to FY24 actuals, producing consistent seasonal patterns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6576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 (Historical Sales, Forecast line items)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601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and Q4 consistently deliver strongest quarterly performance across all years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11460175" cy="27432"/>
          </a:xfrm>
          <a:prstGeom prst="rect">
            <a:avLst/>
          </a:prstGeom>
          <a:solidFill>
            <a:srgbClr val="003A70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365760" y="1645920"/>
          <a:ext cx="11460175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5806440"/>
            <a:ext cx="1146017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" y="5806440"/>
            <a:ext cx="73152" cy="41148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58978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spike driven by November sales — highest single month across all years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601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forecast pattern amplifies FY24 seasonality with consistent 1.5x growth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11460175" cy="27432"/>
          </a:xfrm>
          <a:prstGeom prst="rect">
            <a:avLst/>
          </a:prstGeom>
          <a:solidFill>
            <a:srgbClr val="003A70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365760" y="1645920"/>
          <a:ext cx="11460175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5806440"/>
            <a:ext cx="1146017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" y="5806440"/>
            <a:ext cx="73152" cy="41148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58978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 is the peak month: 2,000 (FY24), 1,800 (FY25), 3,000 (FY26 forecast)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601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forecast methods provide complementary views of expected demand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11460175" cy="27432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0"/>
            <a:ext cx="11460175" cy="1234440"/>
          </a:xfrm>
          <a:prstGeom prst="rect">
            <a:avLst>
              <a:gd name="adj" fmla="val 592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645920"/>
            <a:ext cx="73152" cy="123444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 (Primary)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Sales (t-24) × 1.5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a 50% growth multiplier to sales from two years prior. Captures seasonal patterns while projecting growth.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0" y="1783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18,300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601200" y="23317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11460175" cy="1234440"/>
          </a:xfrm>
          <a:prstGeom prst="rect">
            <a:avLst>
              <a:gd name="adj" fmla="val 592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017520"/>
            <a:ext cx="73152" cy="1234440"/>
          </a:xfrm>
          <a:prstGeom prst="rect">
            <a:avLst/>
          </a:prstGeom>
          <a:solidFill>
            <a:srgbClr val="005DA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 — Previous Year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Sales (t-12)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prior year actuals as baseline forecast. Conservative approach assuming no growth.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0" y="31546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5D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11,800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601200" y="37033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389120"/>
            <a:ext cx="11460175" cy="1234440"/>
          </a:xfrm>
          <a:prstGeom prst="rect">
            <a:avLst>
              <a:gd name="adj" fmla="val 592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4389120"/>
            <a:ext cx="73152" cy="12344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480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 — Mean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Sales / 12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average of annual historical sales. Smooths seasonality for flat demand view.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0" y="45262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983/mo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601200" y="50749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5806440"/>
            <a:ext cx="1146017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5806440"/>
            <a:ext cx="73152" cy="41148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8978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forecast method selected for planning: 1.5x growth multiplier on FY24 historical baseline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 (formula definitions)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601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FY26 monthly forecast ranges from 300 to 3,000 units with high seasonality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11460175" cy="27432"/>
          </a:xfrm>
          <a:prstGeom prst="rect">
            <a:avLst/>
          </a:prstGeom>
          <a:solidFill>
            <a:srgbClr val="003A70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37360"/>
          <a:ext cx="1146017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95528"/>
                <a:gridCol w="795528"/>
                <a:gridCol w="795528"/>
                <a:gridCol w="795528"/>
                <a:gridCol w="795528"/>
                <a:gridCol w="795528"/>
                <a:gridCol w="795528"/>
                <a:gridCol w="795528"/>
                <a:gridCol w="795528"/>
                <a:gridCol w="795528"/>
                <a:gridCol w="795528"/>
                <a:gridCol w="795528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FY26 (F)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FY27 (F)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i="1" dirty="0">
                          <a:solidFill>
                            <a:srgbClr val="003A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FY26 YoY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85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85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85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CC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85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CC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85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85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CC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85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85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0085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5806440"/>
            <a:ext cx="1146017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" y="5806440"/>
            <a:ext cx="73152" cy="41148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58978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 consistently the peak month: FY26 forecast of 3,000 units represents 16% of annual volume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601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risks and five actions to secure FY26 forecast delivery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11460175" cy="27432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7373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Risks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2194560"/>
            <a:ext cx="5303520" cy="960120"/>
          </a:xfrm>
          <a:prstGeom prst="rect">
            <a:avLst>
              <a:gd name="adj" fmla="val 7619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2194560"/>
            <a:ext cx="54864" cy="96012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2677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Seasonality Concentration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5786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 of FY26 volume falls in Q1 and Q4, creating supply chain pressure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337560"/>
            <a:ext cx="5303520" cy="960120"/>
          </a:xfrm>
          <a:prstGeom prst="rect">
            <a:avLst>
              <a:gd name="adj" fmla="val 7619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3337560"/>
            <a:ext cx="54864" cy="96012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4107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 Decline Signal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7216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 declined 3.3% vs FY24 — organic demand may not support 1.5x growth assumption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4480560"/>
            <a:ext cx="5303520" cy="960120"/>
          </a:xfrm>
          <a:prstGeom prst="rect">
            <a:avLst>
              <a:gd name="adj" fmla="val 7619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4480560"/>
            <a:ext cx="54864" cy="96012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5537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Zero-Month Vulnerability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48646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shows zero historical sales in FY25, creating forecast uncertainty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17373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Actions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2194560"/>
          <a:ext cx="576072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743200"/>
                <a:gridCol w="137160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 FY26 demand plan with sales team input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Director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safety stock for Q4 peak demand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Supply Chain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Investigate April zero-sales anomaly in FY25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Analytics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up monthly forecast vs. actual tracking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Prepare downside scenario at 1.2x multiplier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365760" y="5806440"/>
            <a:ext cx="11460175" cy="411480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20" name="Shape 17"/>
          <p:cNvSpPr/>
          <p:nvPr/>
        </p:nvSpPr>
        <p:spPr>
          <a:xfrm>
            <a:off x="365760" y="5806440"/>
            <a:ext cx="73152" cy="41148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58978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priority: validate demand assumptions with sales team before Q1 close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6576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FY26 Sales Forecast - Laptop Pro - Acme Corporation (Tight Margins)</dc:title>
  <dc:subject>PptxGenJS Presentation</dc:subject>
  <dc:creator>Acme Corporation</dc:creator>
  <cp:lastModifiedBy>Acme Corporation</cp:lastModifiedBy>
  <cp:revision>1</cp:revision>
  <dcterms:created xsi:type="dcterms:W3CDTF">2026-02-15T02:14:38Z</dcterms:created>
  <dcterms:modified xsi:type="dcterms:W3CDTF">2026-02-15T02:14:38Z</dcterms:modified>
</cp:coreProperties>
</file>