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86BC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FY24 (Actual)</c:v>
                  </c:pt>
                  <c:pt idx="1">
                    <c:v>FY25 (Actual)</c:v>
                  </c:pt>
                  <c:pt idx="2">
                    <c:v>FY26 (Forecast)</c:v>
                  </c:pt>
                  <c:pt idx="3">
                    <c:v>FY27 (Forecast)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12200</c:v>
                </c:pt>
                <c:pt idx="1">
                  <c:v>11800</c:v>
                </c:pt>
                <c:pt idx="2">
                  <c:v>18300</c:v>
                </c:pt>
                <c:pt idx="3">
                  <c:v>17700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spPr>
            <a:solidFill>
              <a:srgbClr val="BBBC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(F)</c:v>
                </c:pt>
              </c:strCache>
            </c:strRef>
          </c:tx>
          <c:spPr>
            <a:solidFill>
              <a:srgbClr val="86BC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FY27 (F)</c:v>
                </c:pt>
              </c:strCache>
            </c:strRef>
          </c:tx>
          <c:spPr>
            <a:solidFill>
              <a:srgbClr val="9799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5100</c:v>
                </c:pt>
                <c:pt idx="1">
                  <c:v>4500</c:v>
                </c:pt>
                <c:pt idx="2">
                  <c:v>3600</c:v>
                </c:pt>
                <c:pt idx="3">
                  <c:v>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(Actual)</c:v>
                </c:pt>
              </c:strCache>
            </c:strRef>
          </c:tx>
          <c:spPr>
            <a:solidFill>
              <a:srgbClr val="BBBCBC"/>
            </a:solidFill>
            <a:ln w="19050" cap="flat">
              <a:solidFill>
                <a:srgbClr val="BBBCB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BBBCBC"/>
              </a:solidFill>
              <a:ln w="9525" cap="flat">
                <a:solidFill>
                  <a:srgbClr val="BBBCB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(Actual)</c:v>
                </c:pt>
              </c:strCache>
            </c:strRef>
          </c:tx>
          <c:spPr>
            <a:solidFill>
              <a:srgbClr val="333333"/>
            </a:solidFill>
            <a:ln w="19050" cap="flat">
              <a:solidFill>
                <a:srgbClr val="333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(Forecast)</c:v>
                </c:pt>
              </c:strCache>
            </c:strRef>
          </c:tx>
          <c:spPr>
            <a:solidFill>
              <a:srgbClr val="86BC25"/>
            </a:solidFill>
            <a:ln w="19050" cap="flat">
              <a:solidFill>
                <a:srgbClr val="86BC2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86BC25"/>
              </a:solidFill>
              <a:ln w="9525" cap="flat">
                <a:solidFill>
                  <a:srgbClr val="86BC2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Sales Forecast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Laptop Pro  |  Acme Corporation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3657600" cy="2743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&amp; Planning Team Review  |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Laptop Pro forecast projects 18,300 units in FY26, a 55% increase over FY25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11,800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A29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 vs FY24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8488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8488" y="1371600"/>
            <a:ext cx="3474720" cy="54864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808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2808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18,300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32808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2808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+55.1% vs FY25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9775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9775" y="1371600"/>
            <a:ext cx="3474720" cy="54864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095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FY27 Outlook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34095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17,700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534095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34095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A29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 vs FY26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1.5x growth multiplier applied to FY24 actuals produces a strong FY26 forecast, but FY25's slight decline signals potential seasonality risk that warrants monitoring.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represents the strongest projected year for Laptop Pro at Acme Corporation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sales trajectory shows 55% growth from FY25 to FY26 forecast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4980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42655" y="1371600"/>
            <a:ext cx="3291840" cy="4526280"/>
          </a:xfrm>
          <a:prstGeom prst="rect">
            <a:avLst>
              <a:gd name="adj" fmla="val 277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42655" y="1371600"/>
            <a:ext cx="54864" cy="45262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7" name="Text 4"/>
          <p:cNvSpPr/>
          <p:nvPr/>
        </p:nvSpPr>
        <p:spPr>
          <a:xfrm>
            <a:off x="8716975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16975" y="2103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FY24 → FY25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16975" y="2331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A29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16975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Slight decline in historical sales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16975" y="305181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→ FY26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16975" y="32804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+55.1%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16975" y="355473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growth from 1.5x multiplier on FY24 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16975" y="40005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→ FY27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16975" y="42291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A29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-3.3%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716975" y="45034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Mirrors FY24-FY25 decline pattern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16975" y="494919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Quarter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16975" y="517779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716975" y="54521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Consistently strongest quarter across all years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methodology applies a 1.5x multiplier to FY24 actuals, producing consistent seasonal patterns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 (Historical Sales, Forecast line items)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Q1 and Q4 consistently deliver strongest quarterly performance across all years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Q4 spike driven by November sales — highest single month across all years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forecast pattern amplifies FY24 seasonality with consistent 1.5x growth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November is the peak month: 2,000 (FY24), 1,800 (FY25), 3,000 (FY26 forecast)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forecast methods provide complementary views of expected demand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(Primary)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Sales (t-24) × 1.5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Applies a 50% growth multiplier to sales from two years prior.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18,300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18320" y="2057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73152" cy="118872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— Previous Year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Sales (t-12)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prior year actuals as baseline forecast. Conservative approach.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11,800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73152" cy="118872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Forecast — Mean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 Sales / 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average of annual historical sales. Smooths seasonality.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0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983/mo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418320" y="4709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forecast method selected for planning: 1.5x growth multiplier on FY24 historical baseline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 (formula definitions)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FY26 monthly forecast ranges from 300 to 3,000 units with high seasonality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72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Jan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Feb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Jul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Sep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Oct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Nov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FY26 (F)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2,700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1,500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1,500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3,000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2,100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18,300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FY27 (F)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1,800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2,100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2,400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2,700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17,700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FY26 YoY 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N/A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DA29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-25%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DA29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-6%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200%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350%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DA291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-62%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67%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425%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+55%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November consistently the peak month: FY26 forecast of 3,000 units represents 16% of annual volume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risks and five actions to secure FY26 forecast delivery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A29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Risks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54864" cy="96012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93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Seasonality Concentration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57% of FY26 volume falls in Q1 and Q4, creating supply chain pressure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063240"/>
            <a:ext cx="54864" cy="96012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36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Decline Signal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FY25 declined 3.3% vs FY24 — organic demand may not support 1.5x growth assumption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206240"/>
            <a:ext cx="54864" cy="96012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79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Zero-Month Vulnerability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590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April shows zero historical sales in FY25, creating forecast uncertainty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Recommended Actions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20240"/>
          <a:ext cx="52120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28600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Owner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 FY26 demand plan with sales team input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Director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Build safety stock for Q4 peak demand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Supply Chain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Sep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Investigate April zero-sales anomaly in FY25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Analytics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Set up monthly forecast vs. actual tracking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Prepare downside scenario at 1.2x multiplier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Planning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 2026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priority: validate demand assumptions with sales team before Q1 close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Sales Forecast - Design System E</dc:title>
  <dc:subject>PptxGenJS Presentation</dc:subject>
  <dc:creator>Acme Corporation</dc:creator>
  <cp:lastModifiedBy>Acme Corporation</cp:lastModifiedBy>
  <cp:revision>1</cp:revision>
  <dcterms:created xsi:type="dcterms:W3CDTF">2026-02-15T05:55:43Z</dcterms:created>
  <dcterms:modified xsi:type="dcterms:W3CDTF">2026-02-15T05:55:43Z</dcterms:modified>
</cp:coreProperties>
</file>