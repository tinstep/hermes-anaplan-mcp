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FY24 Actual</c:v>
                </c:pt>
              </c:strCache>
            </c:strRef>
          </c:tx>
          <c:spPr>
            <a:solidFill>
              <a:srgbClr val="C0C5C9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900">
                    <a:solidFill>
                      <a:srgbClr val="333333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3600</c:v>
                </c:pt>
                <c:pt idx="1">
                  <c:v>2200</c:v>
                </c:pt>
                <c:pt idx="2">
                  <c:v>2800</c:v>
                </c:pt>
                <c:pt idx="3">
                  <c:v>3600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FY25 Actual</c:v>
                </c:pt>
              </c:strCache>
            </c:strRef>
          </c:tx>
          <c:spPr>
            <a:solidFill>
              <a:srgbClr val="00857C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900">
                    <a:solidFill>
                      <a:srgbClr val="333333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3400</c:v>
                </c:pt>
                <c:pt idx="1">
                  <c:v>3000</c:v>
                </c:pt>
                <c:pt idx="2">
                  <c:v>2400</c:v>
                </c:pt>
                <c:pt idx="3">
                  <c:v>3000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FY26 Forecast</c:v>
                </c:pt>
              </c:strCache>
            </c:strRef>
          </c:tx>
          <c:spPr>
            <a:solidFill>
              <a:srgbClr val="003A70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900">
                    <a:solidFill>
                      <a:srgbClr val="333333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5400</c:v>
                </c:pt>
                <c:pt idx="1">
                  <c:v>3300</c:v>
                </c:pt>
                <c:pt idx="2">
                  <c:v>4200</c:v>
                </c:pt>
                <c:pt idx="3">
                  <c:v>5400</c:v>
                </c:pt>
              </c:numCache>
            </c:numRef>
          </c:val>
        </c:ser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0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CCCCCC"/>
              </a:solidFill>
            </a:ln>
          </c:spPr>
        </c:majorGridlines>
        <c:numFmt formatCode="$#,##0" sourceLinked="0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0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333333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FY24 Actual</c:v>
                </c:pt>
              </c:strCache>
            </c:strRef>
          </c:tx>
          <c:spPr>
            <a:ln w="25400">
              <a:solidFill>
                <a:srgbClr val="C0C5C9"/>
              </a:solidFill>
            </a:ln>
          </c:spPr>
          <c:marker>
            <c:symbol val="circle"/>
            <c:size val="7"/>
            <c:spPr>
              <a:solidFill>
                <a:srgbClr val="C0C5C9"/>
              </a:solidFill>
              <a:ln>
                <a:solidFill>
                  <a:srgbClr val="C0C5C9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600</c:v>
                </c:pt>
                <c:pt idx="1">
                  <c:v>1800</c:v>
                </c:pt>
                <c:pt idx="2">
                  <c:v>1200</c:v>
                </c:pt>
                <c:pt idx="3">
                  <c:v>400</c:v>
                </c:pt>
                <c:pt idx="4">
                  <c:v>800</c:v>
                </c:pt>
                <c:pt idx="5">
                  <c:v>1000</c:v>
                </c:pt>
                <c:pt idx="6">
                  <c:v>1000</c:v>
                </c:pt>
                <c:pt idx="7">
                  <c:v>1200</c:v>
                </c:pt>
                <c:pt idx="8">
                  <c:v>600</c:v>
                </c:pt>
                <c:pt idx="9">
                  <c:v>200</c:v>
                </c:pt>
                <c:pt idx="10">
                  <c:v>2000</c:v>
                </c:pt>
                <c:pt idx="11">
                  <c:v>1400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FY25 Actual</c:v>
                </c:pt>
              </c:strCache>
            </c:strRef>
          </c:tx>
          <c:spPr>
            <a:ln w="25400">
              <a:solidFill>
                <a:srgbClr val="00857C"/>
              </a:solidFill>
            </a:ln>
          </c:spPr>
          <c:marker>
            <c:symbol val="circle"/>
            <c:size val="7"/>
            <c:spPr>
              <a:solidFill>
                <a:srgbClr val="00857C"/>
              </a:solidFill>
              <a:ln>
                <a:solidFill>
                  <a:srgbClr val="00857C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600</c:v>
                </c:pt>
                <c:pt idx="1">
                  <c:v>1200</c:v>
                </c:pt>
                <c:pt idx="2">
                  <c:v>1600</c:v>
                </c:pt>
                <c:pt idx="3">
                  <c:v>0</c:v>
                </c:pt>
                <c:pt idx="4">
                  <c:v>1600</c:v>
                </c:pt>
                <c:pt idx="5">
                  <c:v>1400</c:v>
                </c:pt>
                <c:pt idx="6">
                  <c:v>1600</c:v>
                </c:pt>
                <c:pt idx="7">
                  <c:v>600</c:v>
                </c:pt>
                <c:pt idx="8">
                  <c:v>200</c:v>
                </c:pt>
                <c:pt idx="9">
                  <c:v>800</c:v>
                </c:pt>
                <c:pt idx="10">
                  <c:v>1800</c:v>
                </c:pt>
                <c:pt idx="11">
                  <c:v>400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FY26 Forecast</c:v>
                </c:pt>
              </c:strCache>
            </c:strRef>
          </c:tx>
          <c:spPr>
            <a:ln w="38100">
              <a:solidFill>
                <a:srgbClr val="003A70"/>
              </a:solidFill>
            </a:ln>
          </c:spPr>
          <c:marker>
            <c:symbol val="circle"/>
            <c:size val="7"/>
            <c:spPr>
              <a:solidFill>
                <a:srgbClr val="003A70"/>
              </a:solidFill>
              <a:ln>
                <a:solidFill>
                  <a:srgbClr val="003A70"/>
                </a:solidFill>
              </a:ln>
            </c:spPr>
          </c:marker>
          <c:dLbls>
            <c:numFmt formatCode="$#,##0" sourceLinked="0"/>
            <c:txPr>
              <a:bodyPr/>
              <a:lstStyle/>
              <a:p>
                <a:pPr>
                  <a:defRPr sz="800">
                    <a:solidFill>
                      <a:srgbClr val="003A70"/>
                    </a:solidFill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900</c:v>
                </c:pt>
                <c:pt idx="1">
                  <c:v>2700</c:v>
                </c:pt>
                <c:pt idx="2">
                  <c:v>1800</c:v>
                </c:pt>
                <c:pt idx="3">
                  <c:v>600</c:v>
                </c:pt>
                <c:pt idx="4">
                  <c:v>1200</c:v>
                </c:pt>
                <c:pt idx="5">
                  <c:v>1500</c:v>
                </c:pt>
                <c:pt idx="6">
                  <c:v>1500</c:v>
                </c:pt>
                <c:pt idx="7">
                  <c:v>1800</c:v>
                </c:pt>
                <c:pt idx="8">
                  <c:v>900</c:v>
                </c:pt>
                <c:pt idx="9">
                  <c:v>300</c:v>
                </c:pt>
                <c:pt idx="10">
                  <c:v>3000</c:v>
                </c:pt>
                <c:pt idx="11">
                  <c:v>2100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000">
                <a:solidFill>
                  <a:srgbClr val="333333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CCCCCC"/>
              </a:solidFill>
            </a:ln>
          </c:spPr>
        </c:majorGridlines>
        <c:numFmt formatCode="$#,##0" sourceLinked="0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000">
                <a:solidFill>
                  <a:srgbClr val="333333"/>
                </a:solidFill>
                <a:latin typeface="Arial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333333"/>
              </a:solidFill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Q1</c:v>
                </c:pt>
              </c:strCache>
            </c:strRef>
          </c:tx>
          <c:spPr>
            <a:solidFill>
              <a:srgbClr val="003A70"/>
            </a:solidFill>
          </c:spPr>
          <c:dLbls>
            <c:numFmt formatCode="$#,##0" sourceLinked="0"/>
            <c:txPr>
              <a:bodyPr/>
              <a:lstStyle/>
              <a:p>
                <a:pPr>
                  <a:defRPr sz="800">
                    <a:solidFill>
                      <a:srgbClr val="333333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  <c:pt idx="3">
                  <c:v>FY27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3600</c:v>
                </c:pt>
                <c:pt idx="1">
                  <c:v>3400</c:v>
                </c:pt>
                <c:pt idx="2">
                  <c:v>5400</c:v>
                </c:pt>
                <c:pt idx="3">
                  <c:v>5100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Q2</c:v>
                </c:pt>
              </c:strCache>
            </c:strRef>
          </c:tx>
          <c:spPr>
            <a:solidFill>
              <a:srgbClr val="005DAA"/>
            </a:solidFill>
          </c:spPr>
          <c:dLbls>
            <c:numFmt formatCode="$#,##0" sourceLinked="0"/>
            <c:txPr>
              <a:bodyPr/>
              <a:lstStyle/>
              <a:p>
                <a:pPr>
                  <a:defRPr sz="800">
                    <a:solidFill>
                      <a:srgbClr val="333333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  <c:pt idx="3">
                  <c:v>FY27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2200</c:v>
                </c:pt>
                <c:pt idx="1">
                  <c:v>3000</c:v>
                </c:pt>
                <c:pt idx="2">
                  <c:v>3300</c:v>
                </c:pt>
                <c:pt idx="3">
                  <c:v>4500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Q3</c:v>
                </c:pt>
              </c:strCache>
            </c:strRef>
          </c:tx>
          <c:spPr>
            <a:solidFill>
              <a:srgbClr val="00857C"/>
            </a:solidFill>
          </c:spPr>
          <c:dLbls>
            <c:numFmt formatCode="$#,##0" sourceLinked="0"/>
            <c:txPr>
              <a:bodyPr/>
              <a:lstStyle/>
              <a:p>
                <a:pPr>
                  <a:defRPr sz="800">
                    <a:solidFill>
                      <a:srgbClr val="333333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  <c:pt idx="3">
                  <c:v>FY27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2800</c:v>
                </c:pt>
                <c:pt idx="1">
                  <c:v>2400</c:v>
                </c:pt>
                <c:pt idx="2">
                  <c:v>4200</c:v>
                </c:pt>
                <c:pt idx="3">
                  <c:v>3600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Q4</c:v>
                </c:pt>
              </c:strCache>
            </c:strRef>
          </c:tx>
          <c:spPr>
            <a:solidFill>
              <a:srgbClr val="C0C5C9"/>
            </a:solidFill>
          </c:spPr>
          <c:dLbls>
            <c:numFmt formatCode="$#,##0" sourceLinked="0"/>
            <c:txPr>
              <a:bodyPr/>
              <a:lstStyle/>
              <a:p>
                <a:pPr>
                  <a:defRPr sz="800">
                    <a:solidFill>
                      <a:srgbClr val="333333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  <c:pt idx="3">
                  <c:v>FY27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3600</c:v>
                </c:pt>
                <c:pt idx="1">
                  <c:v>3000</c:v>
                </c:pt>
                <c:pt idx="2">
                  <c:v>5400</c:v>
                </c:pt>
                <c:pt idx="3">
                  <c:v>4500</c:v>
                </c:pt>
              </c:numCache>
            </c:numRef>
          </c:val>
        </c:ser>
        <c:gapWidth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0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CCCCCC"/>
              </a:solidFill>
            </a:ln>
          </c:spPr>
        </c:majorGridlines>
        <c:numFmt formatCode="$#,##0" sourceLinked="0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0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333333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03A70"/>
                </a:solidFill>
                <a:latin typeface="Georgia"/>
              </a:defRPr>
            </a:pPr>
            <a:r>
              <a:t>FY26 Sales Forecast Report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2926080"/>
            <a:ext cx="2743200" cy="381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3A70"/>
                </a:solidFill>
                <a:latin typeface="Arial"/>
              </a:defRPr>
            </a:pPr>
            <a:r>
              <a:t>Laptop Pro  |  Acme Corporation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Arial"/>
              </a:defRPr>
            </a:pPr>
            <a:r>
              <a:t>[LARA] TEST MODEL  |  Anaplan Planning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3891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Arial"/>
              </a:defRPr>
            </a:pPr>
            <a:r>
              <a:t>Prepared: February 2026  | 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A70"/>
                </a:solidFill>
                <a:latin typeface="Georgia"/>
              </a:defRPr>
            </a:pPr>
            <a:r>
              <a:t>FY26 forecasts project $18,300 for Laptop Pro, representing 55% growth over FY25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Arial"/>
              </a:defRPr>
            </a:pPr>
            <a:r>
              <a:t>Acme Corporation  |  [LARA] TEST MODEL  |  Growth-adjusted forecast (1.5x multiplier)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263640"/>
            <a:ext cx="10362895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32764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Arial"/>
              </a:defRPr>
            </a:pPr>
            <a:r>
              <a:t>Source: [LARA] TEST MODEL, Anaplan | February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3276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Arial"/>
              </a:defRPr>
            </a:pPr>
            <a:r>
              <a:t>Slide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45920"/>
            <a:ext cx="2423160" cy="16459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783080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Arial"/>
              </a:defRPr>
            </a:pPr>
            <a:r>
              <a:t>FY26 Forecast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0312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Arial"/>
              </a:defRPr>
            </a:pPr>
            <a:r>
              <a:t>$18,300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9748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857C"/>
                </a:solidFill>
                <a:latin typeface="Arial"/>
              </a:defRPr>
            </a:pPr>
            <a:r>
              <a:t>+55.1%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38728" y="1645920"/>
            <a:ext cx="2423160" cy="16459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608" y="1783080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Arial"/>
              </a:defRPr>
            </a:pPr>
            <a:r>
              <a:t>FY25 Actual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8" y="210312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Arial"/>
              </a:defRPr>
            </a:pPr>
            <a:r>
              <a:t>$11,800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269748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3333"/>
                </a:solidFill>
                <a:latin typeface="Arial"/>
              </a:defRPr>
            </a:pPr>
            <a:r>
              <a:t>-3.3%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45920"/>
            <a:ext cx="2423160" cy="16459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783080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Arial"/>
              </a:defRPr>
            </a:pPr>
            <a:r>
              <a:t>FY24 Actual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10312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Arial"/>
              </a:defRPr>
            </a:pPr>
            <a:r>
              <a:t>$12,200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69748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99999"/>
                </a:solidFill>
                <a:latin typeface="Arial"/>
              </a:defRPr>
            </a:pPr>
            <a:r>
              <a:t>Baseline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87384" y="1645920"/>
            <a:ext cx="2423160" cy="16459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70264" y="1783080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Arial"/>
              </a:defRPr>
            </a:pPr>
            <a:r>
              <a:t>FY27 Outlook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0264" y="210312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Arial"/>
              </a:defRPr>
            </a:pPr>
            <a:r>
              <a:t>$17,700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0264" y="269748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3333"/>
                </a:solidFill>
                <a:latin typeface="Arial"/>
              </a:defRPr>
            </a:pPr>
            <a:r>
              <a:t>-3.3%</a:t>
            </a:r>
          </a:p>
        </p:txBody>
      </p:sp>
      <p:sp>
        <p:nvSpPr>
          <p:cNvPr id="23" name="Oval 22"/>
          <p:cNvSpPr/>
          <p:nvPr/>
        </p:nvSpPr>
        <p:spPr>
          <a:xfrm>
            <a:off x="1005840" y="3721608"/>
            <a:ext cx="109728" cy="109728"/>
          </a:xfrm>
          <a:prstGeom prst="ellipse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36576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Projected 55.1% YoY growth from FY25 ($11.8K) to FY26 ($18.3K)</a:t>
            </a:r>
          </a:p>
        </p:txBody>
      </p:sp>
      <p:sp>
        <p:nvSpPr>
          <p:cNvPr id="25" name="Oval 24"/>
          <p:cNvSpPr/>
          <p:nvPr/>
        </p:nvSpPr>
        <p:spPr>
          <a:xfrm>
            <a:off x="1005840" y="4069080"/>
            <a:ext cx="109728" cy="109728"/>
          </a:xfrm>
          <a:prstGeom prst="ellipse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4440" y="40050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Q4 consistently strongest quarter across all years (~30% of annual revenue)</a:t>
            </a:r>
          </a:p>
        </p:txBody>
      </p:sp>
      <p:sp>
        <p:nvSpPr>
          <p:cNvPr id="27" name="Oval 26"/>
          <p:cNvSpPr/>
          <p:nvPr/>
        </p:nvSpPr>
        <p:spPr>
          <a:xfrm>
            <a:off x="1005840" y="4416552"/>
            <a:ext cx="109728" cy="109728"/>
          </a:xfrm>
          <a:prstGeom prst="ellipse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34440" y="435254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FY26 forecast uses 1.5x growth multiplier on FY24 historical base</a:t>
            </a:r>
          </a:p>
        </p:txBody>
      </p:sp>
      <p:sp>
        <p:nvSpPr>
          <p:cNvPr id="29" name="Oval 28"/>
          <p:cNvSpPr/>
          <p:nvPr/>
        </p:nvSpPr>
        <p:spPr>
          <a:xfrm>
            <a:off x="1005840" y="4764024"/>
            <a:ext cx="109728" cy="109728"/>
          </a:xfrm>
          <a:prstGeom prst="ellipse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34440" y="470001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Q2 shows structural weakness — potential for targeted sales initiatives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A70"/>
                </a:solidFill>
                <a:latin typeface="Georgia"/>
              </a:defRPr>
            </a:pPr>
            <a:r>
              <a:t>Quarterly analysis reveals consistent Q4 peak and structural Q2 weakness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Arial"/>
              </a:defRPr>
            </a:pPr>
            <a:r>
              <a:t>FY24 Actual vs FY25 Actual vs FY26 Forecast  |  Laptop Pro  |  Acme Corporation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263640"/>
            <a:ext cx="10362895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32764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Arial"/>
              </a:defRPr>
            </a:pPr>
            <a:r>
              <a:t>Source: [LARA] TEST MODEL, Anaplan | February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3276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Arial"/>
              </a:defRPr>
            </a:pPr>
            <a:r>
              <a:t>Slide 3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1554480"/>
          <a:ext cx="68580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046720" y="1554480"/>
            <a:ext cx="3657600" cy="43891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691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Arial"/>
              </a:defRPr>
            </a:pPr>
            <a:r>
              <a:t>Year-over-Year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21945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Arial"/>
              </a:defRPr>
            </a:pPr>
            <a:r>
              <a:t>Quarter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1945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  <a:latin typeface="Arial"/>
              </a:defRPr>
            </a:pPr>
            <a:r>
              <a:t>FY24&gt;25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21945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  <a:latin typeface="Arial"/>
              </a:defRPr>
            </a:pPr>
            <a:r>
              <a:t>FY25&gt;26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57860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Arial"/>
              </a:defRPr>
            </a:pPr>
            <a:r>
              <a:t>Q1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257860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3333"/>
                </a:solidFill>
                <a:latin typeface="Arial"/>
              </a:defRPr>
            </a:pPr>
            <a:r>
              <a:t>-5.6%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257860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857C"/>
                </a:solidFill>
                <a:latin typeface="Arial"/>
              </a:defRPr>
            </a:pPr>
            <a:r>
              <a:t>+58.8%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96265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Arial"/>
              </a:defRPr>
            </a:pPr>
            <a:r>
              <a:t>Q2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96265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857C"/>
                </a:solidFill>
                <a:latin typeface="Arial"/>
              </a:defRPr>
            </a:pPr>
            <a:r>
              <a:t>+36.4%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296265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857C"/>
                </a:solidFill>
                <a:latin typeface="Arial"/>
              </a:defRPr>
            </a:pPr>
            <a:r>
              <a:t>+10.0%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34670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Arial"/>
              </a:defRPr>
            </a:pPr>
            <a:r>
              <a:t>Q3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34670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3333"/>
                </a:solidFill>
                <a:latin typeface="Arial"/>
              </a:defRPr>
            </a:pPr>
            <a:r>
              <a:t>-14.3%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334670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857C"/>
                </a:solidFill>
                <a:latin typeface="Arial"/>
              </a:defRPr>
            </a:pPr>
            <a:r>
              <a:t>+75.0%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37307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Arial"/>
              </a:defRPr>
            </a:pPr>
            <a:r>
              <a:t>Q4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7307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3333"/>
                </a:solidFill>
                <a:latin typeface="Arial"/>
              </a:defRPr>
            </a:pPr>
            <a:r>
              <a:t>-16.7%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37307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857C"/>
                </a:solidFill>
                <a:latin typeface="Arial"/>
              </a:defRPr>
            </a:pPr>
            <a:r>
              <a:t>+80.0%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4114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Arial"/>
              </a:defRPr>
            </a:pPr>
            <a:r>
              <a:t>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41148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C3333"/>
                </a:solidFill>
                <a:latin typeface="Arial"/>
              </a:defRPr>
            </a:pPr>
            <a:r>
              <a:t>-3.3%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41148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857C"/>
                </a:solidFill>
                <a:latin typeface="Arial"/>
              </a:defRPr>
            </a:pPr>
            <a:r>
              <a:t>+55.1%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A70"/>
                </a:solidFill>
                <a:latin typeface="Georgia"/>
              </a:defRPr>
            </a:pPr>
            <a:r>
              <a:t>Monthly forecast pattern follows FY24 base with 1.5x growth multiplier applied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Arial"/>
              </a:defRPr>
            </a:pPr>
            <a:r>
              <a:t>Month-by-month trend  |  Forecast = Historical FY24 x 1.5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263640"/>
            <a:ext cx="10362895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32764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Arial"/>
              </a:defRPr>
            </a:pPr>
            <a:r>
              <a:t>Source: [LARA] TEST MODEL, Anaplan | February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3276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Arial"/>
              </a:defRPr>
            </a:pPr>
            <a:r>
              <a:t>Slide 4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1554480"/>
          <a:ext cx="10362895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A70"/>
                </a:solidFill>
                <a:latin typeface="Georgia"/>
              </a:defRPr>
            </a:pPr>
            <a:r>
              <a:t>Revenue detail shows $6,500 incremental value in FY26 over FY25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Arial"/>
              </a:defRPr>
            </a:pPr>
            <a:r>
              <a:t>Laptop Pro  |  Acme Corporation  |  All figures in USD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263640"/>
            <a:ext cx="10362895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32764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Arial"/>
              </a:defRPr>
            </a:pPr>
            <a:r>
              <a:t>Source: [LARA] TEST MODEL, Anaplan | February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3276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Arial"/>
              </a:defRPr>
            </a:pPr>
            <a:r>
              <a:t>Slide 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645920"/>
          <a:ext cx="73855150740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477102557600"/>
                <a:gridCol w="1477102557600"/>
                <a:gridCol w="1477102557600"/>
                <a:gridCol w="1477102557600"/>
                <a:gridCol w="1477102557600"/>
              </a:tblGrid>
              <a:tr h="42062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Q1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Q2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Q3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Q4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Full Year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FY24 Actual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$3,600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$2,200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$2,800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$3,600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$12,200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FY25 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$3,400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$2,400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$11,800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FY26 Forecast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$5,400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$3,300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$4,200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$5,400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$18,300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FY27 Outlook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$5,100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$4,500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$3,600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$4,500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$17,700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393192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Arial"/>
              </a:defRPr>
            </a:pPr>
            <a:r>
              <a:t>Monthly Breakdown — FY26 Forecast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14400" y="4297680"/>
          <a:ext cx="8305254164148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692104406999"/>
                <a:gridCol w="692104406999"/>
                <a:gridCol w="692104406999"/>
                <a:gridCol w="692104406999"/>
                <a:gridCol w="692104406999"/>
                <a:gridCol w="692104406999"/>
                <a:gridCol w="692104406999"/>
                <a:gridCol w="692104406999"/>
                <a:gridCol w="692104406999"/>
                <a:gridCol w="692104406999"/>
                <a:gridCol w="692104406999"/>
                <a:gridCol w="692104406999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FY26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Jan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Feb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Mar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Apr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May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Jun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Jul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Aug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Sep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Oct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Nov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Dec</a:t>
                      </a:r>
                    </a:p>
                  </a:txBody>
                  <a:tcPr>
                    <a:solidFill>
                      <a:srgbClr val="003A7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Forecast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$900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$2,700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$1,800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$600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$1,200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$1,500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$1,500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$1,800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$900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$300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$3,000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$2,100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A70"/>
                </a:solidFill>
                <a:latin typeface="Georgia"/>
              </a:defRPr>
            </a:pPr>
            <a:r>
              <a:t>Q4 contributes 30% of annual revenue across all forecast periods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Arial"/>
              </a:defRPr>
            </a:pPr>
            <a:r>
              <a:t>Quarterly contribution to annual revenue  |  Year-end procurement cycle drives Q4 peak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263640"/>
            <a:ext cx="10362895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32764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Arial"/>
              </a:defRPr>
            </a:pPr>
            <a:r>
              <a:t>Source: [LARA] TEST MODEL, Anaplan | February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3276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Arial"/>
              </a:defRPr>
            </a:pPr>
            <a:r>
              <a:t>Slide 6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1554480"/>
          <a:ext cx="64008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498079" y="1554480"/>
            <a:ext cx="4206240" cy="43891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1691640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Arial"/>
              </a:defRPr>
            </a:pPr>
            <a:r>
              <a:t>Seasonal Insights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26679" y="2286000"/>
            <a:ext cx="50800" cy="64008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59" y="228600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Arial"/>
              </a:defRPr>
            </a:pPr>
            <a:r>
              <a:t>Q1 Contribution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59" y="2514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A70"/>
                </a:solidFill>
                <a:latin typeface="Arial"/>
              </a:defRPr>
            </a:pPr>
            <a:r>
              <a:t>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39" y="256032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Arial"/>
              </a:defRPr>
            </a:pPr>
            <a:r>
              <a:t>Post-holiday ramp-up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26679" y="3154680"/>
            <a:ext cx="50800" cy="64008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59" y="315468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Arial"/>
              </a:defRPr>
            </a:pPr>
            <a:r>
              <a:t>Q2 Contribution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59" y="33832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A70"/>
                </a:solidFill>
                <a:latin typeface="Arial"/>
              </a:defRPr>
            </a:pPr>
            <a:r>
              <a:t>18%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39" y="342900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Arial"/>
              </a:defRPr>
            </a:pPr>
            <a:r>
              <a:t>Budget cycle trough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26679" y="4023360"/>
            <a:ext cx="50800" cy="64008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9559" y="402336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Arial"/>
              </a:defRPr>
            </a:pPr>
            <a:r>
              <a:t>Q3 Contribution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59" y="4251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A70"/>
                </a:solidFill>
                <a:latin typeface="Arial"/>
              </a:defRPr>
            </a:pPr>
            <a:r>
              <a:t>23%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39" y="42976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Arial"/>
              </a:defRPr>
            </a:pPr>
            <a:r>
              <a:t>Mid-year project spending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26679" y="4892040"/>
            <a:ext cx="50800" cy="64008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9559" y="489204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Arial"/>
              </a:defRPr>
            </a:pPr>
            <a:r>
              <a:t>Q4 Contribution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59" y="51206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A70"/>
                </a:solidFill>
                <a:latin typeface="Arial"/>
              </a:defRPr>
            </a:pPr>
            <a:r>
              <a:t>30%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39" y="516636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Arial"/>
              </a:defRPr>
            </a:pPr>
            <a:r>
              <a:t>Year-end procurement peak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A70"/>
                </a:solidFill>
                <a:latin typeface="Georgia"/>
              </a:defRPr>
            </a:pPr>
            <a:r>
              <a:t>Forecast uses 2-year lookback with 50% growth adjustment as primary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Arial"/>
              </a:defRPr>
            </a:pPr>
            <a:r>
              <a:t>Anaplan model structure and calculation logic  |  Sales Forecast module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263640"/>
            <a:ext cx="10362895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32764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Arial"/>
              </a:defRPr>
            </a:pPr>
            <a:r>
              <a:t>Source: [LARA] TEST MODEL, Anaplan | February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3276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Arial"/>
              </a:defRPr>
            </a:pPr>
            <a:r>
              <a:t>Slide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00200"/>
            <a:ext cx="2560320" cy="38404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600200"/>
            <a:ext cx="2560320" cy="45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737360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Historical Sales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8992" y="2103120"/>
            <a:ext cx="2231136" cy="320040"/>
          </a:xfrm>
          <a:prstGeom prst="roundRect">
            <a:avLst>
              <a:gd name="adj" fmla="val 5000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1305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3A70"/>
                </a:solidFill>
                <a:latin typeface="Arial"/>
              </a:defRPr>
            </a:pPr>
            <a:r>
              <a:t>Raw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606040"/>
            <a:ext cx="223113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Arial"/>
              </a:defRPr>
            </a:pPr>
            <a:r>
              <a:t>Actual recorded sales.</a:t>
            </a:r>
            <a:br/>
            <a:r>
              <a:t>FY24: $12,200 | FY25: $11,800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4892040"/>
            <a:ext cx="2231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Arial"/>
              </a:defRPr>
            </a:pPr>
            <a:r>
              <a:t>Manual entry / import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39312" y="1600200"/>
            <a:ext cx="2560320" cy="38404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9312" y="1600200"/>
            <a:ext cx="2560320" cy="45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03904" y="1737360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Forecast - Mean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03904" y="2103120"/>
            <a:ext cx="2231136" cy="320040"/>
          </a:xfrm>
          <a:prstGeom prst="roundRect">
            <a:avLst>
              <a:gd name="adj" fmla="val 5000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67912" y="21305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3A70"/>
                </a:solidFill>
                <a:latin typeface="Arial"/>
              </a:defRPr>
            </a:pPr>
            <a:r>
              <a:t>Historical / 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3904" y="2606040"/>
            <a:ext cx="223113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Arial"/>
              </a:defRPr>
            </a:pPr>
            <a:r>
              <a:t>Monthly average smoothing</a:t>
            </a:r>
            <a:br/>
            <a:r>
              <a:t>volatility for baseline.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03904" y="4892040"/>
            <a:ext cx="2231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Arial"/>
              </a:defRPr>
            </a:pPr>
            <a:r>
              <a:t>Simple averaging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64224" y="1600200"/>
            <a:ext cx="2560320" cy="38404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64224" y="1600200"/>
            <a:ext cx="2560320" cy="45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1737360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Forecast - Prev Year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28816" y="2103120"/>
            <a:ext cx="2231136" cy="320040"/>
          </a:xfrm>
          <a:prstGeom prst="roundRect">
            <a:avLst>
              <a:gd name="adj" fmla="val 5000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92824" y="21305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3A70"/>
                </a:solidFill>
                <a:latin typeface="Arial"/>
              </a:defRPr>
            </a:pPr>
            <a:r>
              <a:t>OFFSET(Hist, 0, -12)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8816" y="2606040"/>
            <a:ext cx="223113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Arial"/>
              </a:defRPr>
            </a:pPr>
            <a:r>
              <a:t>Same month prior year.</a:t>
            </a:r>
            <a:br/>
            <a:r>
              <a:t>No growth adjustment.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8816" y="4892040"/>
            <a:ext cx="2231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Arial"/>
              </a:defRPr>
            </a:pPr>
            <a:r>
              <a:t>Naive seasonal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89136" y="1600200"/>
            <a:ext cx="2560320" cy="38404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89136" y="1600200"/>
            <a:ext cx="2560320" cy="4572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53728" y="1737360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Forecast (Primary)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53728" y="2103120"/>
            <a:ext cx="2231136" cy="320040"/>
          </a:xfrm>
          <a:prstGeom prst="roundRect">
            <a:avLst>
              <a:gd name="adj" fmla="val 5000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17736" y="21305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3A70"/>
                </a:solidFill>
                <a:latin typeface="Arial"/>
              </a:defRPr>
            </a:pPr>
            <a:r>
              <a:t>OFFSET(Hist,-24,0) x 1.5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53728" y="2606040"/>
            <a:ext cx="223113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Arial"/>
              </a:defRPr>
            </a:pPr>
            <a:r>
              <a:t>2-year lookback, 50% growth.</a:t>
            </a:r>
            <a:br/>
            <a:r>
              <a:t>FY26: $18,300 projected.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53728" y="4892040"/>
            <a:ext cx="2231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Arial"/>
              </a:defRPr>
            </a:pPr>
            <a:r>
              <a:t>Growth-adjusted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A70"/>
                </a:solidFill>
                <a:latin typeface="Georgia"/>
              </a:defRPr>
            </a:pPr>
            <a:r>
              <a:t>Aggressive multiplier and Q2 softness present primary forecast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Arial"/>
              </a:defRPr>
            </a:pPr>
            <a:r>
              <a:t>Strategic considerations for FY26 forecast achievement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263640"/>
            <a:ext cx="10362895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32764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Arial"/>
              </a:defRPr>
            </a:pPr>
            <a:r>
              <a:t>Source: [LARA] TEST MODEL, Anaplan | February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3276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Arial"/>
              </a:defRPr>
            </a:pPr>
            <a:r>
              <a:t>Slide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00200"/>
            <a:ext cx="5029200" cy="42062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600200"/>
            <a:ext cx="5029200" cy="4572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737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C3333"/>
                </a:solidFill>
                <a:latin typeface="Arial"/>
              </a:defRPr>
            </a:pPr>
            <a:r>
              <a:t>RISKS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1488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Arial"/>
              </a:defRPr>
            </a:pPr>
            <a:r>
              <a:t>Aggressive Growth Multiplier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3774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Arial"/>
              </a:defRPr>
            </a:pPr>
            <a:r>
              <a:t>1.5x may not account for market saturation. Sensitivity analysis at 1.2x and 1.0x recommended.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9718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Arial"/>
              </a:defRPr>
            </a:pPr>
            <a:r>
              <a:t>Q2 Weakness Pattern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2004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Arial"/>
              </a:defRPr>
            </a:pPr>
            <a:r>
              <a:t>Consistent Q2 dip; FY26 Q2 at $3,300 is lowest quarter.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7947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Arial"/>
              </a:defRPr>
            </a:pPr>
            <a:r>
              <a:t>Zero FY26 Actuals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0233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Arial"/>
              </a:defRPr>
            </a:pPr>
            <a:r>
              <a:t>No real data yet — forecast relies on FY24 base.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6177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Arial"/>
              </a:defRPr>
            </a:pPr>
            <a:r>
              <a:t>Single Customer Focus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8463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Arial"/>
              </a:defRPr>
            </a:pPr>
            <a:r>
              <a:t>Acme Corp only. Portfolio-wide analysis needed.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600200"/>
            <a:ext cx="5029200" cy="42062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600200"/>
            <a:ext cx="5029200" cy="45720"/>
          </a:xfrm>
          <a:prstGeom prst="rect">
            <a:avLst/>
          </a:prstGeom>
          <a:solidFill>
            <a:srgbClr val="008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1737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857C"/>
                </a:solidFill>
                <a:latin typeface="Arial"/>
              </a:defRPr>
            </a:pPr>
            <a:r>
              <a:t>OPPORTUNITIES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1488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Arial"/>
              </a:defRPr>
            </a:pPr>
            <a:r>
              <a:t>Q4 Momentum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3774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Arial"/>
              </a:defRPr>
            </a:pPr>
            <a:r>
              <a:t>Q4 delivers ~30%. Focused campaigns could amplify seasonal peak.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9718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Arial"/>
              </a:defRPr>
            </a:pPr>
            <a:r>
              <a:t>Cross-Sell Potential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2004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Arial"/>
              </a:defRPr>
            </a:pPr>
            <a:r>
              <a:t>Bundle Desktop Computer, Mouse, accessories for Acme Corp.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7947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Arial"/>
              </a:defRPr>
            </a:pPr>
            <a:r>
              <a:t>Forecast Beat Upside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0233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Arial"/>
              </a:defRPr>
            </a:pPr>
            <a:r>
              <a:t>If trends accelerate, actual could exceed $20K.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46177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Arial"/>
              </a:defRPr>
            </a:pPr>
            <a:r>
              <a:t>Q2 Promotion Window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48463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Arial"/>
              </a:defRPr>
            </a:pPr>
            <a:r>
              <a:t>Promotional pricing to smooth seasonal demand trough.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3A70"/>
                </a:solidFill>
                <a:latin typeface="Georgia"/>
              </a:defRPr>
            </a:pPr>
            <a:r>
              <a:t>Recommendations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2011680"/>
            <a:ext cx="2286000" cy="381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6263640"/>
            <a:ext cx="10362895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32764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Arial"/>
              </a:defRPr>
            </a:pPr>
            <a:r>
              <a:t>Source: [LARA] TEST MODEL, Anaplan | February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3276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Arial"/>
              </a:defRPr>
            </a:pPr>
            <a:r>
              <a:t>Slide 9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2468880"/>
            <a:ext cx="320040" cy="320040"/>
          </a:xfrm>
          <a:prstGeom prst="ellipse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4871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Arial"/>
              </a:defRPr>
            </a:pPr>
            <a:r>
              <a:t>Validate FY26 Q1 actuals against $5,400 quarterly forecast to calibrate multiplier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2971800"/>
            <a:ext cx="320040" cy="320040"/>
          </a:xfrm>
          <a:prstGeom prst="ellipse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99008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Arial"/>
              </a:defRPr>
            </a:pPr>
            <a:r>
              <a:t>Develop Q2 promotional strategy to address historical seasonal weakness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3474720"/>
            <a:ext cx="320040" cy="320040"/>
          </a:xfrm>
          <a:prstGeom prst="ellipse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4930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Arial"/>
              </a:defRPr>
            </a:pPr>
            <a:r>
              <a:t>Expand cross-customer analysis — replicate forecast for top 5 Laptop Pro accounts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3977640"/>
            <a:ext cx="320040" cy="320040"/>
          </a:xfrm>
          <a:prstGeom prst="ellipse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9959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Arial"/>
              </a:defRPr>
            </a:pPr>
            <a:r>
              <a:t>Build scenario models (bear: 1.0x, base: 1.5x, bull: 2.0x) for executive planning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4480560"/>
            <a:ext cx="320040" cy="320040"/>
          </a:xfrm>
          <a:prstGeom prst="ellipse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9884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Arial"/>
              </a:defRPr>
            </a:pPr>
            <a:r>
              <a:t>Schedule monthly forecast-vs-actual review cadence starting March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303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Arial"/>
              </a:defRPr>
            </a:pPr>
            <a:r>
              <a:t>Prepared with Anaplan MCP  |  [LARA] TEST MODEL  |  February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