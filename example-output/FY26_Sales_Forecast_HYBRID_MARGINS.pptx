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003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 (Actual)</c:v>
                  </c:pt>
                  <c:pt idx="1">
                    <c:v>FY25 (Actual)</c:v>
                  </c:pt>
                  <c:pt idx="2">
                    <c:v>FY26 (Forecast)</c:v>
                  </c:pt>
                  <c:pt idx="3">
                    <c:v>FY27 (Forecast)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</c:v>
                </c:pt>
              </c:strCache>
            </c:strRef>
          </c:tx>
          <c:spPr>
            <a:solidFill>
              <a:srgbClr val="C0C5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003A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(F)</c:v>
                </c:pt>
              </c:strCache>
            </c:strRef>
          </c:tx>
          <c:spPr>
            <a:solidFill>
              <a:srgbClr val="0085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FY27 (F)</c:v>
                </c:pt>
              </c:strCache>
            </c:strRef>
          </c:tx>
          <c:spPr>
            <a:solidFill>
              <a:srgbClr val="005D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5100</c:v>
                </c:pt>
                <c:pt idx="1">
                  <c:v>4500</c:v>
                </c:pt>
                <c:pt idx="2">
                  <c:v>3600</c:v>
                </c:pt>
                <c:pt idx="3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(Actual)</c:v>
                </c:pt>
              </c:strCache>
            </c:strRef>
          </c:tx>
          <c:spPr>
            <a:solidFill>
              <a:srgbClr val="C0C5C9"/>
            </a:solidFill>
            <a:ln w="31750" cap="flat">
              <a:solidFill>
                <a:srgbClr val="C0C5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C5C9"/>
              </a:solidFill>
              <a:ln w="9525" cap="flat">
                <a:solidFill>
                  <a:srgbClr val="C0C5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1800</c:v>
                </c:pt>
                <c:pt idx="2">
                  <c:v>1200</c:v>
                </c:pt>
                <c:pt idx="3">
                  <c:v>400</c:v>
                </c:pt>
                <c:pt idx="4">
                  <c:v>800</c:v>
                </c:pt>
                <c:pt idx="5">
                  <c:v>1000</c:v>
                </c:pt>
                <c:pt idx="6">
                  <c:v>1000</c:v>
                </c:pt>
                <c:pt idx="7">
                  <c:v>1200</c:v>
                </c:pt>
                <c:pt idx="8">
                  <c:v>600</c:v>
                </c:pt>
                <c:pt idx="9">
                  <c:v>200</c:v>
                </c:pt>
                <c:pt idx="10">
                  <c:v>2000</c:v>
                </c:pt>
                <c:pt idx="11">
                  <c:v>1400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(Actual)</c:v>
                </c:pt>
              </c:strCache>
            </c:strRef>
          </c:tx>
          <c:spPr>
            <a:solidFill>
              <a:srgbClr val="003A70"/>
            </a:solidFill>
            <a:ln w="31750" cap="flat">
              <a:solidFill>
                <a:srgbClr val="003A7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A70"/>
              </a:solidFill>
              <a:ln w="9525" cap="flat">
                <a:solidFill>
                  <a:srgbClr val="003A7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(Forecast)</c:v>
                </c:pt>
              </c:strCache>
            </c:strRef>
          </c:tx>
          <c:spPr>
            <a:solidFill>
              <a:srgbClr val="00857C"/>
            </a:solidFill>
            <a:ln w="31750" cap="flat">
              <a:solidFill>
                <a:srgbClr val="0085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57C"/>
              </a:solidFill>
              <a:ln w="9525" cap="flat">
                <a:solidFill>
                  <a:srgbClr val="0085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FY26 Sales Forecast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Pro  |  Acme Corporation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36576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C5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Planning Team Review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Laptop Pro forecast projects 18,300 units in FY26, a 55% increase over FY25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356616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566160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11,800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 vs FY24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2768" y="1645920"/>
            <a:ext cx="356616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2768" y="1645920"/>
            <a:ext cx="3566160" cy="54864"/>
          </a:xfrm>
          <a:prstGeom prst="rect">
            <a:avLst/>
          </a:prstGeom>
          <a:solidFill>
            <a:srgbClr val="00857C"/>
          </a:solidFill>
          <a:ln/>
        </p:spPr>
      </p:sp>
      <p:sp>
        <p:nvSpPr>
          <p:cNvPr id="12" name="Text 10"/>
          <p:cNvSpPr/>
          <p:nvPr/>
        </p:nvSpPr>
        <p:spPr>
          <a:xfrm>
            <a:off x="4587088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Forecast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7088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18,300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87088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7088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+55.1% vs FY25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68335" y="1645920"/>
            <a:ext cx="356616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68335" y="1645920"/>
            <a:ext cx="3566160" cy="54864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18" name="Text 16"/>
          <p:cNvSpPr/>
          <p:nvPr/>
        </p:nvSpPr>
        <p:spPr>
          <a:xfrm>
            <a:off x="8442655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 Outlook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42655" y="21945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17,700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442655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projected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42655" y="3246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 vs FY26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1.5x growth multiplier applied to FY24 actuals produces a strong FY26 forecast, but FY25's slight decline signals potential seasonality risk that warrants monitoring.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806440"/>
            <a:ext cx="11277295" cy="41148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8978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represents the strongest projected year for Laptop Pro at Acme Corporation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sales trajectory shows 55% growth from FY25 to FY26 forecast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645920"/>
            <a:ext cx="3200400" cy="4297680"/>
          </a:xfrm>
          <a:prstGeom prst="rect">
            <a:avLst>
              <a:gd name="adj" fmla="val 2857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0" y="1645920"/>
            <a:ext cx="54864" cy="42976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 → FY25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decline in historical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→ FY26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5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+55.1%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growth from 1.5x multiplier on FY24 base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0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→ FY27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868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FY24-FY25 decline pattern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0" y="5257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Quarter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86800" y="5760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Consistently strongest quarter across all years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80644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8978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methodology applies a 1.5x multiplier to FY24 actuals, producing consistent seasonal patterns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 (Historical Sales, Forecast line items)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and Q4 consistently deliver strongest quarterly performance across all years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11277295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8978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spike driven by November sales — highest single month across all years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forecast pattern amplifies FY24 seasonality with consistent 1.5x growth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11277295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8978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is the peak month: 2,000 (FY24), 1,800 (FY25), 3,000 (FY26 forecast)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forecast methods provide complementary views of expected demand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11277295" cy="1234440"/>
          </a:xfrm>
          <a:prstGeom prst="rect">
            <a:avLst>
              <a:gd name="adj" fmla="val 59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123444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(t-24) × 1.5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a 50% growth multiplier to sales from two years prior. Captures seasonal patterns while projecting growth.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0" y="1783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18,300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0" y="2331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1277295" cy="1234440"/>
          </a:xfrm>
          <a:prstGeom prst="rect">
            <a:avLst>
              <a:gd name="adj" fmla="val 59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73152" cy="1234440"/>
          </a:xfrm>
          <a:prstGeom prst="rect">
            <a:avLst/>
          </a:prstGeom>
          <a:solidFill>
            <a:srgbClr val="005DA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— Previous 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(t-12)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prior year actuals as baseline forecast. Conservative approach assuming no growth.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0" y="3154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D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11,800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01200" y="3703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11277295" cy="1234440"/>
          </a:xfrm>
          <a:prstGeom prst="rect">
            <a:avLst>
              <a:gd name="adj" fmla="val 5926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389120"/>
            <a:ext cx="73152" cy="1234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— Mean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Sales / 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average of annual historical sales. Smooths seasonality for flat demand view.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0" y="4526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983/mo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601200" y="5074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80644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8978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forecast method selected for planning: 1.5x growth multiplier on FY24 historical baseline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 (formula definitions)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FY26 monthly forecast ranges from 300 to 3,000 units with high seasonality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72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795528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(F)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(F)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3A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YoY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CC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0085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8978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consistently the peak month: FY26 forecast of 3,000 units represents 16% of annual volume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risks and five actions to secure FY26 forecast delivery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30352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" cy="9601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677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 Concentration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786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 of FY26 volume falls in Q1 and Q4, creating supply chain pressure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530352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337560"/>
            <a:ext cx="54864" cy="9601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107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Decline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7216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FY25 declined 3.3% vs FY24 — organic demand may not support 1.5x growth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5303520" cy="960120"/>
          </a:xfrm>
          <a:prstGeom prst="rect">
            <a:avLst>
              <a:gd name="adj" fmla="val 7619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480560"/>
            <a:ext cx="54864" cy="9601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5537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Zero-Month Vulnerability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8646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shows zero historical sales in FY25, creating forecast uncertainty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Actions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94560"/>
          <a:ext cx="57607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FY26 demand plan with sales team input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Director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safety stock for Q4 peak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Investigate April zero-sales anomaly in 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up monthly forecast vs. actual tracking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Prepare downside scenario at 1.2x multiplier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5806440"/>
            <a:ext cx="11277295" cy="41148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5806440"/>
            <a:ext cx="73152" cy="411480"/>
          </a:xfrm>
          <a:prstGeom prst="rect">
            <a:avLst/>
          </a:prstGeom>
          <a:solidFill>
            <a:srgbClr val="003A7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58978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priority: validate demand assumptions with sales team before Q1 close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Anaplan - Sales Forecast Module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FY26 Sales Forecast - Laptop Pro - Acme Corporation (Hybrid Margins)</dc:title>
  <dc:subject>PptxGenJS Presentation</dc:subject>
  <dc:creator>Acme Corporation</dc:creator>
  <cp:lastModifiedBy>Acme Corporation</cp:lastModifiedBy>
  <cp:revision>1</cp:revision>
  <dcterms:created xsi:type="dcterms:W3CDTF">2026-02-15T02:58:09Z</dcterms:created>
  <dcterms:modified xsi:type="dcterms:W3CDTF">2026-02-15T02:58:09Z</dcterms:modified>
</cp:coreProperties>
</file>