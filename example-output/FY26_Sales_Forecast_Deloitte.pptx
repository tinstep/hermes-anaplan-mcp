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FY24 Actual</c:v>
                </c:pt>
              </c:strCache>
            </c:strRef>
          </c:tx>
          <c:spPr>
            <a:solidFill>
              <a:srgbClr val="CCCCCC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</c:v>
                </c:pt>
                <c:pt idx="1">
                  <c:v>2200</c:v>
                </c:pt>
                <c:pt idx="2">
                  <c:v>2800</c:v>
                </c:pt>
                <c:pt idx="3">
                  <c:v>3600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 Actual</c:v>
                </c:pt>
              </c:strCache>
            </c:strRef>
          </c:tx>
          <c:spPr>
            <a:solidFill>
              <a:srgbClr val="808080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3400</c:v>
                </c:pt>
                <c:pt idx="1">
                  <c:v>3000</c:v>
                </c:pt>
                <c:pt idx="2">
                  <c:v>2400</c:v>
                </c:pt>
                <c:pt idx="3">
                  <c:v>3000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Forecast</c:v>
                </c:pt>
              </c:strCache>
            </c:strRef>
          </c:tx>
          <c:spPr>
            <a:solidFill>
              <a:srgbClr val="86BC24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5400</c:v>
                </c:pt>
                <c:pt idx="1">
                  <c:v>3300</c:v>
                </c:pt>
                <c:pt idx="2">
                  <c:v>4200</c:v>
                </c:pt>
                <c:pt idx="3">
                  <c:v>5400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333333"/>
                </a:solidFill>
                <a:latin typeface="Ope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333333"/>
                </a:solidFill>
                <a:latin typeface="Open San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Open Sa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 Actual</c:v>
                </c:pt>
              </c:strCache>
            </c:strRef>
          </c:tx>
          <c:spPr>
            <a:ln w="25400">
              <a:solidFill>
                <a:srgbClr val="CCCCCC"/>
              </a:solidFill>
            </a:ln>
          </c:spPr>
          <c:marker>
            <c:symbol val="circle"/>
            <c:size val="7"/>
            <c:spPr>
              <a:solidFill>
                <a:srgbClr val="CCCCCC"/>
              </a:solidFill>
              <a:ln>
                <a:solidFill>
                  <a:srgbClr val="CCCCCC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600</c:v>
                </c:pt>
                <c:pt idx="1">
                  <c:v>1800</c:v>
                </c:pt>
                <c:pt idx="2">
                  <c:v>1200</c:v>
                </c:pt>
                <c:pt idx="3">
                  <c:v>400</c:v>
                </c:pt>
                <c:pt idx="4">
                  <c:v>800</c:v>
                </c:pt>
                <c:pt idx="5">
                  <c:v>1000</c:v>
                </c:pt>
                <c:pt idx="6">
                  <c:v>1000</c:v>
                </c:pt>
                <c:pt idx="7">
                  <c:v>1200</c:v>
                </c:pt>
                <c:pt idx="8">
                  <c:v>600</c:v>
                </c:pt>
                <c:pt idx="9">
                  <c:v>200</c:v>
                </c:pt>
                <c:pt idx="10">
                  <c:v>2000</c:v>
                </c:pt>
                <c:pt idx="11">
                  <c:v>1400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 Actual</c:v>
                </c:pt>
              </c:strCache>
            </c:strRef>
          </c:tx>
          <c:spPr>
            <a:ln w="25400">
              <a:solidFill>
                <a:srgbClr val="808080"/>
              </a:solidFill>
            </a:ln>
          </c:spPr>
          <c:marker>
            <c:symbol val="circle"/>
            <c:size val="7"/>
            <c:spPr>
              <a:solidFill>
                <a:srgbClr val="808080"/>
              </a:solidFill>
              <a:ln>
                <a:solidFill>
                  <a:srgbClr val="808080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600</c:v>
                </c:pt>
                <c:pt idx="1">
                  <c:v>1200</c:v>
                </c:pt>
                <c:pt idx="2">
                  <c:v>1600</c:v>
                </c:pt>
                <c:pt idx="3">
                  <c:v>0</c:v>
                </c:pt>
                <c:pt idx="4">
                  <c:v>1600</c:v>
                </c:pt>
                <c:pt idx="5">
                  <c:v>1400</c:v>
                </c:pt>
                <c:pt idx="6">
                  <c:v>1600</c:v>
                </c:pt>
                <c:pt idx="7">
                  <c:v>600</c:v>
                </c:pt>
                <c:pt idx="8">
                  <c:v>200</c:v>
                </c:pt>
                <c:pt idx="9">
                  <c:v>800</c:v>
                </c:pt>
                <c:pt idx="10">
                  <c:v>1800</c:v>
                </c:pt>
                <c:pt idx="11">
                  <c:v>400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Forecast</c:v>
                </c:pt>
              </c:strCache>
            </c:strRef>
          </c:tx>
          <c:spPr>
            <a:ln w="38100">
              <a:solidFill>
                <a:srgbClr val="86BC24"/>
              </a:solidFill>
            </a:ln>
          </c:spPr>
          <c:marker>
            <c:symbol val="circle"/>
            <c:size val="7"/>
            <c:spPr>
              <a:solidFill>
                <a:srgbClr val="86BC24"/>
              </a:solidFill>
              <a:ln>
                <a:solidFill>
                  <a:srgbClr val="86BC24"/>
                </a:solidFill>
              </a:ln>
            </c:spPr>
          </c:marke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86BC24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900</c:v>
                </c:pt>
                <c:pt idx="1">
                  <c:v>2700</c:v>
                </c:pt>
                <c:pt idx="2">
                  <c:v>1800</c:v>
                </c:pt>
                <c:pt idx="3">
                  <c:v>600</c:v>
                </c:pt>
                <c:pt idx="4">
                  <c:v>1200</c:v>
                </c:pt>
                <c:pt idx="5">
                  <c:v>1500</c:v>
                </c:pt>
                <c:pt idx="6">
                  <c:v>1500</c:v>
                </c:pt>
                <c:pt idx="7">
                  <c:v>1800</c:v>
                </c:pt>
                <c:pt idx="8">
                  <c:v>900</c:v>
                </c:pt>
                <c:pt idx="9">
                  <c:v>300</c:v>
                </c:pt>
                <c:pt idx="10">
                  <c:v>3000</c:v>
                </c:pt>
                <c:pt idx="11">
                  <c:v>2100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333333"/>
                </a:solidFill>
                <a:latin typeface="Open 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333333"/>
                </a:solidFill>
                <a:latin typeface="Open San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Open San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86BC24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333333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</c:v>
                </c:pt>
                <c:pt idx="1">
                  <c:v>3400</c:v>
                </c:pt>
                <c:pt idx="2">
                  <c:v>5400</c:v>
                </c:pt>
                <c:pt idx="3">
                  <c:v>5100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A8D55D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333333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2200</c:v>
                </c:pt>
                <c:pt idx="1">
                  <c:v>3000</c:v>
                </c:pt>
                <c:pt idx="2">
                  <c:v>3300</c:v>
                </c:pt>
                <c:pt idx="3">
                  <c:v>4500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333333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2800</c:v>
                </c:pt>
                <c:pt idx="1">
                  <c:v>2400</c:v>
                </c:pt>
                <c:pt idx="2">
                  <c:v>4200</c:v>
                </c:pt>
                <c:pt idx="3">
                  <c:v>3600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808080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333333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3600</c:v>
                </c:pt>
                <c:pt idx="1">
                  <c:v>3000</c:v>
                </c:pt>
                <c:pt idx="2">
                  <c:v>5400</c:v>
                </c:pt>
                <c:pt idx="3">
                  <c:v>4500</c:v>
                </c:pt>
              </c:numCache>
            </c:numRef>
          </c:val>
        </c:ser>
        <c:gapWidth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333333"/>
                </a:solidFill>
                <a:latin typeface="Ope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333333"/>
                </a:solidFill>
                <a:latin typeface="Open San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Open Sa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0000"/>
                </a:solidFill>
                <a:latin typeface="Open Sans"/>
              </a:defRPr>
            </a:pPr>
            <a:r>
              <a:t>FY26 Sales Forecast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926080"/>
            <a:ext cx="2743200" cy="38100"/>
          </a:xfrm>
          <a:prstGeom prst="rect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6BC24"/>
                </a:solidFill>
                <a:latin typeface="Open Sans"/>
              </a:defRPr>
            </a:pPr>
            <a:r>
              <a:t>Laptop Pro  |  Acme Corporation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23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Open Sans"/>
              </a:defRPr>
            </a:pPr>
            <a:r>
              <a:t>[LARA] TEST MODEL  |  Anaplan Planning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389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Open Sans"/>
              </a:defRPr>
            </a:pPr>
            <a:r>
              <a:t>Prepared: February 2026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Open Sans"/>
              </a:defRPr>
            </a:pPr>
            <a:r>
              <a:t>FY26 forecasts project $18,300 for Laptop Pro, representing 55% growth over FY25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Open Sans"/>
              </a:defRPr>
            </a:pPr>
            <a:r>
              <a:t>Acme Corporation  |  [LARA] TEST MODEL  |  Growth-adjusted forecast (1.5x multiplier)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263640"/>
            <a:ext cx="1054577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Open Sans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  <a:latin typeface="Open Sans"/>
              </a:defRPr>
            </a:pPr>
            <a:r>
              <a:t>Slide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2423160" cy="1645920"/>
          </a:xfrm>
          <a:prstGeom prst="roundRect">
            <a:avLst>
              <a:gd name="adj" fmla="val 5000"/>
            </a:avLst>
          </a:prstGeom>
          <a:solidFill>
            <a:srgbClr val="E8F5D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Open Sans"/>
              </a:defRPr>
            </a:pPr>
            <a:r>
              <a:t>FY26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Open Sans"/>
              </a:defRPr>
            </a:pPr>
            <a:r>
              <a:t>$18,300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BC24"/>
                </a:solidFill>
                <a:latin typeface="Open Sans"/>
              </a:defRPr>
            </a:pPr>
            <a:r>
              <a:t>+55.1%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645920"/>
            <a:ext cx="2423160" cy="1645920"/>
          </a:xfrm>
          <a:prstGeom prst="roundRect">
            <a:avLst>
              <a:gd name="adj" fmla="val 5000"/>
            </a:avLst>
          </a:prstGeom>
          <a:solidFill>
            <a:srgbClr val="E8F5D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Open Sans"/>
              </a:defRPr>
            </a:pPr>
            <a:r>
              <a:t>FY25 Actual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1031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Open Sans"/>
              </a:defRPr>
            </a:pPr>
            <a:r>
              <a:t>$11,800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697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4F4F"/>
                </a:solidFill>
                <a:latin typeface="Open Sans"/>
              </a:defRPr>
            </a:pPr>
            <a:r>
              <a:t>-3.3%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71616" y="1645920"/>
            <a:ext cx="2423160" cy="1645920"/>
          </a:xfrm>
          <a:prstGeom prst="roundRect">
            <a:avLst>
              <a:gd name="adj" fmla="val 5000"/>
            </a:avLst>
          </a:prstGeom>
          <a:solidFill>
            <a:srgbClr val="E8F5D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7830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Open Sans"/>
              </a:defRPr>
            </a:pPr>
            <a:r>
              <a:t>FY24 Actual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1031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Open Sans"/>
              </a:defRPr>
            </a:pPr>
            <a:r>
              <a:t>$12,200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697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08080"/>
                </a:solidFill>
                <a:latin typeface="Open Sans"/>
              </a:defRPr>
            </a:pPr>
            <a:r>
              <a:t>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95944" y="1645920"/>
            <a:ext cx="2423160" cy="1645920"/>
          </a:xfrm>
          <a:prstGeom prst="roundRect">
            <a:avLst>
              <a:gd name="adj" fmla="val 5000"/>
            </a:avLst>
          </a:prstGeom>
          <a:solidFill>
            <a:srgbClr val="E8F5D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78824" y="17830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Open Sans"/>
              </a:defRPr>
            </a:pPr>
            <a:r>
              <a:t>FY27 Outlook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21031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Open Sans"/>
              </a:defRPr>
            </a:pPr>
            <a:r>
              <a:t>$17,700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2697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4F4F"/>
                </a:solidFill>
                <a:latin typeface="Open Sans"/>
              </a:defRPr>
            </a:pPr>
            <a:r>
              <a:t>-3.3%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3721608"/>
            <a:ext cx="109728" cy="109728"/>
          </a:xfrm>
          <a:prstGeom prst="ellipse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657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t>Projected 55.1% YoY growth from FY25 ($11.8K) to FY26 ($18.3K)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4069080"/>
            <a:ext cx="109728" cy="109728"/>
          </a:xfrm>
          <a:prstGeom prst="ellipse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0050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t>Q4 consistently strongest quarter across all years (~30% of annual revenue)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35254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t>FY26 forecast uses 1.5x growth multiplier on FY24 historical base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764024"/>
            <a:ext cx="109728" cy="109728"/>
          </a:xfrm>
          <a:prstGeom prst="ellipse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7000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t>Q2 shows structural weakness — potential for targeted sales initiatives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897880"/>
            <a:ext cx="10545775" cy="347472"/>
          </a:xfrm>
          <a:prstGeom prst="rect">
            <a:avLst/>
          </a:prstGeom>
          <a:solidFill>
            <a:srgbClr val="E8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5897880"/>
            <a:ext cx="38100" cy="347472"/>
          </a:xfrm>
          <a:prstGeom prst="rect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925312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FY26 projects 55% growth driven by 1.5x historical multiplier — validate with Q1 actuals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Open Sans"/>
              </a:defRPr>
            </a:pPr>
            <a:r>
              <a:t>Quarterly analysis reveals consistent Q4 peak and structural Q2 weakness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Open Sans"/>
              </a:defRPr>
            </a:pPr>
            <a:r>
              <a:t>FY24 Actual vs FY25 Actual vs FY26 Forecast  |  Laptop Pro  |  Acme Corporation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263640"/>
            <a:ext cx="1054577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Open Sans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  <a:latin typeface="Open Sans"/>
              </a:defRPr>
            </a:pPr>
            <a:r>
              <a:t>Slide 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554480"/>
          <a:ext cx="68580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46720" y="1554480"/>
            <a:ext cx="3657600" cy="4389120"/>
          </a:xfrm>
          <a:prstGeom prst="roundRect">
            <a:avLst>
              <a:gd name="adj" fmla="val 5000"/>
            </a:avLst>
          </a:prstGeom>
          <a:solidFill>
            <a:srgbClr val="E8F5D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Open Sans"/>
              </a:defRPr>
            </a:pPr>
            <a:r>
              <a:t>Year-over-Year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194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1945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FY24&gt;25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1945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FY25&gt;26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5786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Open Sans"/>
              </a:defRPr>
            </a:pPr>
            <a: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5786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94F4F"/>
                </a:solidFill>
                <a:latin typeface="Open Sans"/>
              </a:defRPr>
            </a:pPr>
            <a:r>
              <a:t>-5.6%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5786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6BC24"/>
                </a:solidFill>
                <a:latin typeface="Open Sans"/>
              </a:defRPr>
            </a:pPr>
            <a:r>
              <a:t>+58.8%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96265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Open Sans"/>
              </a:defRPr>
            </a:pPr>
            <a:r>
              <a:t>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9626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6BC24"/>
                </a:solidFill>
                <a:latin typeface="Open Sans"/>
              </a:defRPr>
            </a:pPr>
            <a:r>
              <a:t>+36.4%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9626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6BC24"/>
                </a:solidFill>
                <a:latin typeface="Open Sans"/>
              </a:defRPr>
            </a:pPr>
            <a:r>
              <a:t>+10.0%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34670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Open Sans"/>
              </a:defRPr>
            </a:pPr>
            <a: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346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94F4F"/>
                </a:solidFill>
                <a:latin typeface="Open Sans"/>
              </a:defRPr>
            </a:pPr>
            <a:r>
              <a:t>-14.3%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346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6BC24"/>
                </a:solidFill>
                <a:latin typeface="Open Sans"/>
              </a:defRPr>
            </a:pPr>
            <a:r>
              <a:t>+75.0%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7307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Open Sans"/>
              </a:defRPr>
            </a:pPr>
            <a: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7307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94F4F"/>
                </a:solidFill>
                <a:latin typeface="Open Sans"/>
              </a:defRPr>
            </a:pPr>
            <a:r>
              <a:t>-16.7%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37307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6BC24"/>
                </a:solidFill>
                <a:latin typeface="Open Sans"/>
              </a:defRPr>
            </a:pPr>
            <a:r>
              <a:t>+80.0%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114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114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94F4F"/>
                </a:solidFill>
                <a:latin typeface="Open Sans"/>
              </a:defRPr>
            </a:pPr>
            <a:r>
              <a:t>-3.3%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114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6BC24"/>
                </a:solidFill>
                <a:latin typeface="Open Sans"/>
              </a:defRPr>
            </a:pPr>
            <a:r>
              <a:t>+55.1%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897880"/>
            <a:ext cx="10545775" cy="347472"/>
          </a:xfrm>
          <a:prstGeom prst="rect">
            <a:avLst/>
          </a:prstGeom>
          <a:solidFill>
            <a:srgbClr val="E8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5897880"/>
            <a:ext cx="38100" cy="347472"/>
          </a:xfrm>
          <a:prstGeom prst="rect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925312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Q4 consistently delivers ~30% of annual revenue, suggesting year-end procurement 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Open Sans"/>
              </a:defRPr>
            </a:pPr>
            <a:r>
              <a:t>Monthly forecast pattern follows FY24 base with 1.5x growth multiplier applied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Open Sans"/>
              </a:defRPr>
            </a:pPr>
            <a:r>
              <a:t>Month-by-month trend  |  Forecast = Historical FY24 x 1.5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263640"/>
            <a:ext cx="1054577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Open Sans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  <a:latin typeface="Open Sans"/>
              </a:defRPr>
            </a:pPr>
            <a:r>
              <a:t>Slide 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554480"/>
          <a:ext cx="10545775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5897880"/>
            <a:ext cx="10545775" cy="347472"/>
          </a:xfrm>
          <a:prstGeom prst="rect">
            <a:avLst/>
          </a:prstGeom>
          <a:solidFill>
            <a:srgbClr val="E8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897880"/>
            <a:ext cx="38100" cy="347472"/>
          </a:xfrm>
          <a:prstGeom prst="rect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925312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February and November consistently show demand peaks across all fiscal years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Open Sans"/>
              </a:defRPr>
            </a:pPr>
            <a:r>
              <a:t>Revenue detail shows $6,500 incremental value in FY26 over FY25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Open Sans"/>
              </a:defRPr>
            </a:pPr>
            <a:r>
              <a:t>Laptop Pro  |  Acme Corporation  |  All figures in USD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263640"/>
            <a:ext cx="1054577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Open Sans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  <a:latin typeface="Open Sans"/>
              </a:defRPr>
            </a:pPr>
            <a:r>
              <a:t>Slide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45920"/>
          <a:ext cx="7552740546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10547652000"/>
                <a:gridCol w="1510547652000"/>
                <a:gridCol w="1510547652000"/>
                <a:gridCol w="1510547652000"/>
                <a:gridCol w="1510547652000"/>
              </a:tblGrid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Q1</a:t>
                      </a:r>
                    </a:p>
                  </a:txBody>
                  <a:tcPr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Q3</a:t>
                      </a:r>
                    </a:p>
                  </a:txBody>
                  <a:tcPr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Q4</a:t>
                      </a:r>
                    </a:p>
                  </a:txBody>
                  <a:tcPr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Full Year</a:t>
                      </a:r>
                    </a:p>
                  </a:txBody>
                  <a:tcPr>
                    <a:solidFill>
                      <a:srgbClr val="86BC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FY24 Actual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$3,600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$2,200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$2,800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$3,600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$12,200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FY25 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$3,400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$11,800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FY26 Forecast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$5,400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$3,300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$4,200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$5,400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$18,300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FY27 Outlook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$5,100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$17,700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39319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Open Sans"/>
              </a:defRPr>
            </a:pPr>
            <a:r>
              <a:t>Monthly Breakdown — FY26 Forecast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4297680"/>
          <a:ext cx="8472479636148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06039862999"/>
                <a:gridCol w="706039862999"/>
                <a:gridCol w="706039862999"/>
                <a:gridCol w="706039862999"/>
                <a:gridCol w="706039862999"/>
                <a:gridCol w="706039862999"/>
                <a:gridCol w="706039862999"/>
                <a:gridCol w="706039862999"/>
                <a:gridCol w="706039862999"/>
                <a:gridCol w="706039862999"/>
                <a:gridCol w="706039862999"/>
                <a:gridCol w="706039862999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FY26</a:t>
                      </a:r>
                    </a:p>
                  </a:txBody>
                  <a:tcPr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Jan</a:t>
                      </a:r>
                    </a:p>
                  </a:txBody>
                  <a:tcPr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Feb</a:t>
                      </a:r>
                    </a:p>
                  </a:txBody>
                  <a:tcPr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Mar</a:t>
                      </a:r>
                    </a:p>
                  </a:txBody>
                  <a:tcPr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Apr</a:t>
                      </a:r>
                    </a:p>
                  </a:txBody>
                  <a:tcPr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May</a:t>
                      </a:r>
                    </a:p>
                  </a:txBody>
                  <a:tcPr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Jun</a:t>
                      </a:r>
                    </a:p>
                  </a:txBody>
                  <a:tcPr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Jul</a:t>
                      </a:r>
                    </a:p>
                  </a:txBody>
                  <a:tcPr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Aug</a:t>
                      </a:r>
                    </a:p>
                  </a:txBody>
                  <a:tcPr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Sep</a:t>
                      </a:r>
                    </a:p>
                  </a:txBody>
                  <a:tcPr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Oct</a:t>
                      </a:r>
                    </a:p>
                  </a:txBody>
                  <a:tcPr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Nov</a:t>
                      </a:r>
                    </a:p>
                  </a:txBody>
                  <a:tcPr>
                    <a:solidFill>
                      <a:srgbClr val="86B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Dec</a:t>
                      </a:r>
                    </a:p>
                  </a:txBody>
                  <a:tcPr>
                    <a:solidFill>
                      <a:srgbClr val="86BC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Forecast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$900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$2,700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$1,800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$600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$1,200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$1,500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$1,500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$1,800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$900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$300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$3,000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$2,100</a:t>
                      </a:r>
                    </a:p>
                  </a:txBody>
                  <a:tcPr>
                    <a:solidFill>
                      <a:srgbClr val="E8F5D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22960" y="5897880"/>
            <a:ext cx="10545775" cy="347472"/>
          </a:xfrm>
          <a:prstGeom prst="rect">
            <a:avLst/>
          </a:prstGeom>
          <a:solidFill>
            <a:srgbClr val="E8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897880"/>
            <a:ext cx="38100" cy="347472"/>
          </a:xfrm>
          <a:prstGeom prst="rect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925312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FY26 represents $6,500 incremental revenue over FY25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Open Sans"/>
              </a:defRPr>
            </a:pPr>
            <a:r>
              <a:t>Q4 contributes 30% of annual revenue across all forecast periods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Open Sans"/>
              </a:defRPr>
            </a:pPr>
            <a:r>
              <a:t>Quarterly contribution to annual revenue  |  Year-end procurement cycle drives Q4 peak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263640"/>
            <a:ext cx="1054577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Open Sans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  <a:latin typeface="Open Sans"/>
              </a:defRPr>
            </a:pPr>
            <a:r>
              <a:t>Slide 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554480"/>
          <a:ext cx="6400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98079" y="1554480"/>
            <a:ext cx="4206240" cy="4389120"/>
          </a:xfrm>
          <a:prstGeom prst="roundRect">
            <a:avLst>
              <a:gd name="adj" fmla="val 5000"/>
            </a:avLst>
          </a:prstGeom>
          <a:solidFill>
            <a:srgbClr val="E8F5D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69164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Open Sans"/>
              </a:defRPr>
            </a:pPr>
            <a:r>
              <a:t>Seasonal Insights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2286000"/>
            <a:ext cx="50800" cy="640080"/>
          </a:xfrm>
          <a:prstGeom prst="rect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59" y="22860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Q1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59" y="2514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6BC24"/>
                </a:solidFill>
                <a:latin typeface="Open Sans"/>
              </a:defRPr>
            </a:pPr>
            <a: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39" y="25603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Open Sans"/>
              </a:defRPr>
            </a:pPr>
            <a:r>
              <a:t>Post-holiday ramp-up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3154680"/>
            <a:ext cx="50800" cy="640080"/>
          </a:xfrm>
          <a:prstGeom prst="rect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59" y="31546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Q2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3383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6BC24"/>
                </a:solidFill>
                <a:latin typeface="Open Sans"/>
              </a:defRPr>
            </a:pPr>
            <a:r>
              <a:t>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9" y="34290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Open Sans"/>
              </a:defRPr>
            </a:pPr>
            <a:r>
              <a:t>Budget cycle trough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4023360"/>
            <a:ext cx="50800" cy="640080"/>
          </a:xfrm>
          <a:prstGeom prst="rect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59" y="40233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Q3 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59" y="4251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6BC24"/>
                </a:solidFill>
                <a:latin typeface="Open Sans"/>
              </a:defRPr>
            </a:pPr>
            <a:r>
              <a:t>23%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39" y="42976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Open Sans"/>
              </a:defRPr>
            </a:pPr>
            <a:r>
              <a:t>Mid-year project spending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4892040"/>
            <a:ext cx="50800" cy="640080"/>
          </a:xfrm>
          <a:prstGeom prst="rect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59" y="48920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Q4 Contribution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59" y="5120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6BC24"/>
                </a:solidFill>
                <a:latin typeface="Open Sans"/>
              </a:defRPr>
            </a:pPr>
            <a:r>
              <a:t>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9" y="51663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Open Sans"/>
              </a:defRPr>
            </a:pPr>
            <a:r>
              <a:t>Year-end procurement peak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897880"/>
            <a:ext cx="10545775" cy="347472"/>
          </a:xfrm>
          <a:prstGeom prst="rect">
            <a:avLst/>
          </a:prstGeom>
          <a:solidFill>
            <a:srgbClr val="E8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897880"/>
            <a:ext cx="38100" cy="347472"/>
          </a:xfrm>
          <a:prstGeom prst="rect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925312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Smooth Q2 trough with targeted promotions to unlock $1-2K additional revenue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Open Sans"/>
              </a:defRPr>
            </a:pPr>
            <a:r>
              <a:t>Forecast uses 2-year lookback with 50% growth adjustment as primary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Open Sans"/>
              </a:defRPr>
            </a:pPr>
            <a:r>
              <a:t>Anaplan model structure and calculation logic  |  Sales Forecast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263640"/>
            <a:ext cx="1054577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Open Sans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  <a:latin typeface="Open Sans"/>
              </a:defRPr>
            </a:pPr>
            <a:r>
              <a:t>Slide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E8F5D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2560320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73736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Open Sans"/>
              </a:defRPr>
            </a:pPr>
            <a:r>
              <a:t>Historical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2103120"/>
            <a:ext cx="2231136" cy="320040"/>
          </a:xfrm>
          <a:prstGeom prst="roundRect">
            <a:avLst>
              <a:gd name="adj" fmla="val 5000"/>
            </a:avLst>
          </a:prstGeom>
          <a:solidFill>
            <a:srgbClr val="E8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30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BC24"/>
                </a:solidFill>
                <a:latin typeface="Open Sans"/>
              </a:defRPr>
            </a:pPr>
            <a:r>
              <a:t>Raw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06040"/>
            <a:ext cx="22311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Open Sans"/>
              </a:defRPr>
            </a:pPr>
            <a:r>
              <a:t>Actual recorded sales.</a:t>
            </a:r>
            <a:br/>
            <a:r>
              <a:t>FY24: $12,200 | FY25: $11,800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89204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Manual entry / import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7872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E8F5D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47872" y="1600200"/>
            <a:ext cx="2560320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2464" y="173736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Open Sans"/>
              </a:defRPr>
            </a:pPr>
            <a:r>
              <a:t>Forecast - Mean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12464" y="2103120"/>
            <a:ext cx="2231136" cy="320040"/>
          </a:xfrm>
          <a:prstGeom prst="roundRect">
            <a:avLst>
              <a:gd name="adj" fmla="val 5000"/>
            </a:avLst>
          </a:prstGeom>
          <a:solidFill>
            <a:srgbClr val="E8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6472" y="2130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BC24"/>
                </a:solidFill>
                <a:latin typeface="Open Sans"/>
              </a:defRPr>
            </a:pPr>
            <a:r>
              <a:t>Historical /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4" y="2606040"/>
            <a:ext cx="22311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Open Sans"/>
              </a:defRPr>
            </a:pPr>
            <a:r>
              <a:t>Monthly average smoothing</a:t>
            </a:r>
            <a:br/>
            <a:r>
              <a:t>volatility for baseline.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4" y="489204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Simple averaging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2784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E8F5D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2784" y="1600200"/>
            <a:ext cx="2560320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173736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Open Sans"/>
              </a:defRPr>
            </a:pPr>
            <a:r>
              <a:t>Forecast - Prev Year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37376" y="2103120"/>
            <a:ext cx="2231136" cy="320040"/>
          </a:xfrm>
          <a:prstGeom prst="roundRect">
            <a:avLst>
              <a:gd name="adj" fmla="val 5000"/>
            </a:avLst>
          </a:prstGeom>
          <a:solidFill>
            <a:srgbClr val="E8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2130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BC24"/>
                </a:solidFill>
                <a:latin typeface="Open Sans"/>
              </a:defRPr>
            </a:pPr>
            <a:r>
              <a:t>OFFSET(Hist, 0, -12)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2606040"/>
            <a:ext cx="22311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Open Sans"/>
              </a:defRPr>
            </a:pPr>
            <a:r>
              <a:t>Same month prior year.</a:t>
            </a:r>
            <a:br/>
            <a:r>
              <a:t>No growth adjustment.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89204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Naive seasonal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7696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E8F5D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97696" y="1600200"/>
            <a:ext cx="2560320" cy="45720"/>
          </a:xfrm>
          <a:prstGeom prst="rect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173736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Open Sans"/>
              </a:defRPr>
            </a:pPr>
            <a:r>
              <a:t>Forecast (Primary)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62288" y="2103120"/>
            <a:ext cx="2231136" cy="320040"/>
          </a:xfrm>
          <a:prstGeom prst="roundRect">
            <a:avLst>
              <a:gd name="adj" fmla="val 5000"/>
            </a:avLst>
          </a:prstGeom>
          <a:solidFill>
            <a:srgbClr val="E8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130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BC24"/>
                </a:solidFill>
                <a:latin typeface="Open Sans"/>
              </a:defRPr>
            </a:pPr>
            <a:r>
              <a:t>OFFSET(Hist,-24,0) x 1.5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288" y="2606040"/>
            <a:ext cx="22311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Open Sans"/>
              </a:defRPr>
            </a:pPr>
            <a:r>
              <a:t>2-year lookback, 50% growth.</a:t>
            </a:r>
            <a:br/>
            <a:r>
              <a:t>FY26: $18,300 projected.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489204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Growth-adjusted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897880"/>
            <a:ext cx="10545775" cy="347472"/>
          </a:xfrm>
          <a:prstGeom prst="rect">
            <a:avLst/>
          </a:prstGeom>
          <a:solidFill>
            <a:srgbClr val="E8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5897880"/>
            <a:ext cx="38100" cy="347472"/>
          </a:xfrm>
          <a:prstGeom prst="rect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925312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Primary forecast applies conservative 1.5x multiplier to 2-year lookback 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Open Sans"/>
              </a:defRPr>
            </a:pPr>
            <a:r>
              <a:t>Aggressive multiplier and Q2 softness present primary forecast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Open Sans"/>
              </a:defRPr>
            </a:pPr>
            <a:r>
              <a:t>Strategic considerations for FY26 forecast achievement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263640"/>
            <a:ext cx="1054577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Open Sans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  <a:latin typeface="Open Sans"/>
              </a:defRPr>
            </a:pPr>
            <a:r>
              <a:t>Slide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5029200" cy="4206240"/>
          </a:xfrm>
          <a:prstGeom prst="roundRect">
            <a:avLst>
              <a:gd name="adj" fmla="val 5000"/>
            </a:avLst>
          </a:prstGeom>
          <a:solidFill>
            <a:srgbClr val="E8F5D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5029200" cy="45720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94F4F"/>
                </a:solidFill>
                <a:latin typeface="Open Sans"/>
              </a:defRPr>
            </a:pPr>
            <a:r>
              <a:t>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Aggressive Growth Multiplier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Open Sans"/>
              </a:defRPr>
            </a:pPr>
            <a:r>
              <a:t>1.5x may not account for market saturation. Sensitivity analysis at 1.2x and 1.0x recommended.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71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Q2 Weakness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004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Open Sans"/>
              </a:defRPr>
            </a:pPr>
            <a:r>
              <a:t>Consistent Q2 dip; FY26 Q2 at $3,300 is lowest quarter.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794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Zero FY26 Actuals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23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Open Sans"/>
              </a:defRPr>
            </a:pPr>
            <a:r>
              <a:t>No real data yet — forecast relies on FY24 base.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6177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Single Customer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846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Open Sans"/>
              </a:defRPr>
            </a:pPr>
            <a:r>
              <a:t>Acme Corp only. Portfolio-wide analysis needed.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00200"/>
            <a:ext cx="5029200" cy="4206240"/>
          </a:xfrm>
          <a:prstGeom prst="roundRect">
            <a:avLst>
              <a:gd name="adj" fmla="val 5000"/>
            </a:avLst>
          </a:prstGeom>
          <a:solidFill>
            <a:srgbClr val="E8F5D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600200"/>
            <a:ext cx="5029200" cy="45720"/>
          </a:xfrm>
          <a:prstGeom prst="rect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6BC24"/>
                </a:solidFill>
                <a:latin typeface="Open Sans"/>
              </a:defRPr>
            </a:pPr>
            <a:r>
              <a:t>OPPORTUNITIES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148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Q4 Momentum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3774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Open Sans"/>
              </a:defRPr>
            </a:pPr>
            <a:r>
              <a:t>Q4 delivers ~30%. Focused campaigns could amplify seasonal peak.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971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Cross-Sell Potential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2004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Open Sans"/>
              </a:defRPr>
            </a:pPr>
            <a:r>
              <a:t>Bundle Desktop Computer, Mouse, accessories for Acme Corp.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94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Forecast Beat Upside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023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Open Sans"/>
              </a:defRPr>
            </a:pPr>
            <a:r>
              <a:t>If trends accelerate, actual could exceed $20K.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6177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Q2 Promotion Window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846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Open Sans"/>
              </a:defRPr>
            </a:pPr>
            <a:r>
              <a:t>Promotional pricing to smooth seasonal demand trough.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897880"/>
            <a:ext cx="10545775" cy="347472"/>
          </a:xfrm>
          <a:prstGeom prst="rect">
            <a:avLst/>
          </a:prstGeom>
          <a:solidFill>
            <a:srgbClr val="E8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897880"/>
            <a:ext cx="38100" cy="347472"/>
          </a:xfrm>
          <a:prstGeom prst="rect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925312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Net risk assessment: moderate — upside potential exceeds downside exposure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188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Open Sans"/>
              </a:defRPr>
            </a:pPr>
            <a:r>
              <a:t>Recommendations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011680"/>
            <a:ext cx="2286000" cy="38100"/>
          </a:xfrm>
          <a:prstGeom prst="rect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6263640"/>
            <a:ext cx="1054577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Open Sans"/>
              </a:defRPr>
            </a:pPr>
            <a:r>
              <a:t>Source: [LARA] TEST MODEL, Anaplan | 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8080"/>
                </a:solidFill>
                <a:latin typeface="Open Sans"/>
              </a:defRPr>
            </a:pPr>
            <a:r>
              <a:t>Slide 9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468880"/>
            <a:ext cx="320040" cy="320040"/>
          </a:xfrm>
          <a:prstGeom prst="ellipse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87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Open Sans"/>
              </a:defRPr>
            </a:pPr>
            <a:r>
              <a:t>Validate FY26 Q1 actuals against $5,400 quarterly forecast to calibrate multiplier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971800"/>
            <a:ext cx="320040" cy="320040"/>
          </a:xfrm>
          <a:prstGeom prst="ellipse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90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Open Sans"/>
              </a:defRPr>
            </a:pPr>
            <a:r>
              <a:t>Develop Q2 promotional strategy to address historical seasonal weakness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474720"/>
            <a:ext cx="320040" cy="320040"/>
          </a:xfrm>
          <a:prstGeom prst="ellipse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493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Open Sans"/>
              </a:defRPr>
            </a:pPr>
            <a:r>
              <a:t>Expand cross-customer analysis — replicate forecast for top 5 Laptop Pro accounts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977640"/>
            <a:ext cx="320040" cy="320040"/>
          </a:xfrm>
          <a:prstGeom prst="ellipse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959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Open Sans"/>
              </a:defRPr>
            </a:pPr>
            <a:r>
              <a:t>Build scenario models (bear: 1.0x, base: 1.5x, bull: 2.0x) for executive planning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480560"/>
            <a:ext cx="320040" cy="320040"/>
          </a:xfrm>
          <a:prstGeom prst="ellipse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4988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Open Sans"/>
              </a:defRPr>
            </a:pPr>
            <a:r>
              <a:t>Schedule monthly forecast-vs-actual review cadence starting March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03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Open Sans"/>
              </a:defRPr>
            </a:pPr>
            <a:r>
              <a:t>Prepared with Anaplan MCP  |  [LARA] TEST MODEL  |  February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86B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